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mbria Bold" charset="1" panose="02040803050406030204"/>
      <p:regular r:id="rId18"/>
    </p:embeddedFont>
    <p:embeddedFont>
      <p:font typeface="Cambria Italics" charset="1" panose="020405030504060A0204"/>
      <p:regular r:id="rId19"/>
    </p:embeddedFon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  <p:embeddedFont>
      <p:font typeface="Calibri (MS) Italics" charset="1" panose="020F05020202040A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41497" y="-1841497"/>
            <a:ext cx="7340603" cy="7340603"/>
            <a:chOff x="0" y="0"/>
            <a:chExt cx="9787471" cy="9787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2A7A4B">
                <a:alpha val="5882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1C3A2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617703" y="5473703"/>
            <a:ext cx="5511803" cy="5511803"/>
            <a:chOff x="0" y="0"/>
            <a:chExt cx="7349071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3D9B61">
                <a:alpha val="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1C3A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244859" cy="10312403"/>
            <a:chOff x="0" y="0"/>
            <a:chExt cx="326479" cy="13749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9260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3D9B6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63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13732890"/>
                  </a:lnTo>
                  <a:cubicBezTo>
                    <a:pt x="326390" y="13742290"/>
                    <a:pt x="318770" y="13749782"/>
                    <a:pt x="30949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09499" y="13716000"/>
                  </a:lnTo>
                  <a:lnTo>
                    <a:pt x="309499" y="13732890"/>
                  </a:lnTo>
                  <a:lnTo>
                    <a:pt x="292608" y="13732890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A2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84583" y="901703"/>
            <a:ext cx="4414523" cy="793499"/>
            <a:chOff x="0" y="0"/>
            <a:chExt cx="5886031" cy="1057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852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852160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5726938" y="0"/>
                  </a:lnTo>
                  <a:cubicBezTo>
                    <a:pt x="5796153" y="0"/>
                    <a:pt x="5852160" y="54610"/>
                    <a:pt x="5852160" y="121920"/>
                  </a:cubicBezTo>
                  <a:lnTo>
                    <a:pt x="5852160" y="902208"/>
                  </a:lnTo>
                  <a:cubicBezTo>
                    <a:pt x="5852160" y="969518"/>
                    <a:pt x="5796153" y="1024128"/>
                    <a:pt x="5726938" y="1024128"/>
                  </a:cubicBezTo>
                  <a:lnTo>
                    <a:pt x="125222" y="1024128"/>
                  </a:lnTo>
                  <a:cubicBezTo>
                    <a:pt x="56007" y="1024128"/>
                    <a:pt x="0" y="969518"/>
                    <a:pt x="0" y="902208"/>
                  </a:cubicBez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85942" cy="1057910"/>
            </a:xfrm>
            <a:custGeom>
              <a:avLst/>
              <a:gdLst/>
              <a:ahLst/>
              <a:cxnLst/>
              <a:rect r="r" b="b" t="t" l="l"/>
              <a:pathLst>
                <a:path h="1057910" w="5885942">
                  <a:moveTo>
                    <a:pt x="0" y="138811"/>
                  </a:moveTo>
                  <a:cubicBezTo>
                    <a:pt x="0" y="61722"/>
                    <a:pt x="64135" y="0"/>
                    <a:pt x="142113" y="0"/>
                  </a:cubicBezTo>
                  <a:lnTo>
                    <a:pt x="5743829" y="0"/>
                  </a:lnTo>
                  <a:lnTo>
                    <a:pt x="5743829" y="16891"/>
                  </a:lnTo>
                  <a:lnTo>
                    <a:pt x="5743829" y="0"/>
                  </a:lnTo>
                  <a:cubicBezTo>
                    <a:pt x="5821934" y="0"/>
                    <a:pt x="5885942" y="61722"/>
                    <a:pt x="5885942" y="138811"/>
                  </a:cubicBezTo>
                  <a:lnTo>
                    <a:pt x="5869051" y="138811"/>
                  </a:lnTo>
                  <a:lnTo>
                    <a:pt x="5885942" y="138811"/>
                  </a:lnTo>
                  <a:lnTo>
                    <a:pt x="5885942" y="919099"/>
                  </a:lnTo>
                  <a:lnTo>
                    <a:pt x="5869051" y="919099"/>
                  </a:lnTo>
                  <a:lnTo>
                    <a:pt x="5885942" y="919099"/>
                  </a:lnTo>
                  <a:cubicBezTo>
                    <a:pt x="5885942" y="996188"/>
                    <a:pt x="5821807" y="1057910"/>
                    <a:pt x="5743829" y="1057910"/>
                  </a:cubicBezTo>
                  <a:lnTo>
                    <a:pt x="5743829" y="1041019"/>
                  </a:lnTo>
                  <a:lnTo>
                    <a:pt x="5743829" y="1057910"/>
                  </a:lnTo>
                  <a:lnTo>
                    <a:pt x="142113" y="1057910"/>
                  </a:lnTo>
                  <a:lnTo>
                    <a:pt x="142113" y="1041019"/>
                  </a:lnTo>
                  <a:lnTo>
                    <a:pt x="142113" y="1057910"/>
                  </a:lnTo>
                  <a:cubicBezTo>
                    <a:pt x="64135" y="1058037"/>
                    <a:pt x="0" y="996188"/>
                    <a:pt x="0" y="919099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919099"/>
                  </a:lnTo>
                  <a:lnTo>
                    <a:pt x="16891" y="919099"/>
                  </a:lnTo>
                  <a:lnTo>
                    <a:pt x="33909" y="919099"/>
                  </a:lnTo>
                  <a:cubicBezTo>
                    <a:pt x="33909" y="976630"/>
                    <a:pt x="81915" y="1024128"/>
                    <a:pt x="142240" y="1024128"/>
                  </a:cubicBezTo>
                  <a:lnTo>
                    <a:pt x="5743829" y="1024128"/>
                  </a:lnTo>
                  <a:cubicBezTo>
                    <a:pt x="5804027" y="1024128"/>
                    <a:pt x="5852160" y="976757"/>
                    <a:pt x="5852160" y="919099"/>
                  </a:cubicBezTo>
                  <a:lnTo>
                    <a:pt x="5852160" y="138811"/>
                  </a:lnTo>
                  <a:cubicBezTo>
                    <a:pt x="5852160" y="81280"/>
                    <a:pt x="5804154" y="33782"/>
                    <a:pt x="5743829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782" y="81280"/>
                    <a:pt x="33782" y="138938"/>
                  </a:cubicBezTo>
                  <a:close/>
                </a:path>
              </a:pathLst>
            </a:custGeom>
            <a:solidFill>
              <a:srgbClr val="3D9B6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2011680"/>
            <a:ext cx="15544800" cy="3291840"/>
            <a:chOff x="0" y="0"/>
            <a:chExt cx="20726400" cy="4389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012" r="0" b="-4201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726400" cy="4398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Tableau de Bord Climatique</a:t>
              </a:r>
            </a:p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Multi-Wilayas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5303520"/>
            <a:ext cx="12801600" cy="1005840"/>
            <a:chOff x="0" y="0"/>
            <a:chExt cx="1706880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70688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i="true">
                  <a:solidFill>
                    <a:srgbClr val="3D9B61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pour la Sécurité Alimentaire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4583" y="6479543"/>
            <a:ext cx="10998203" cy="80267"/>
            <a:chOff x="0" y="0"/>
            <a:chExt cx="14664271" cy="1070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630399" cy="73152"/>
            </a:xfrm>
            <a:custGeom>
              <a:avLst/>
              <a:gdLst/>
              <a:ahLst/>
              <a:cxnLst/>
              <a:rect r="r" b="b" t="t" l="l"/>
              <a:pathLst>
                <a:path h="73152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3D9B61">
                <a:alpha val="24706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64182" cy="106936"/>
            </a:xfrm>
            <a:custGeom>
              <a:avLst/>
              <a:gdLst/>
              <a:ahLst/>
              <a:cxnLst/>
              <a:rect r="r" b="b" t="t" l="l"/>
              <a:pathLst>
                <a:path h="106936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90043"/>
                  </a:lnTo>
                  <a:cubicBezTo>
                    <a:pt x="14664182" y="99441"/>
                    <a:pt x="14656563" y="106934"/>
                    <a:pt x="146472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14647290" y="73152"/>
                  </a:lnTo>
                  <a:lnTo>
                    <a:pt x="14647290" y="90043"/>
                  </a:lnTo>
                  <a:lnTo>
                    <a:pt x="14630400" y="90043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A2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7280" y="6766560"/>
            <a:ext cx="12801600" cy="1062298"/>
            <a:chOff x="0" y="0"/>
            <a:chExt cx="17068800" cy="14163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68800" cy="1416397"/>
            </a:xfrm>
            <a:custGeom>
              <a:avLst/>
              <a:gdLst/>
              <a:ahLst/>
              <a:cxnLst/>
              <a:rect r="r" b="b" t="t" l="l"/>
              <a:pathLst>
                <a:path h="1416397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416397"/>
                  </a:lnTo>
                  <a:lnTo>
                    <a:pt x="0" y="14163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380" r="0" b="-1692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7068800" cy="1483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Sokhna Kiné Sy GAYE &amp; SAID HASSANE Amatoul-karim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" y="7589520"/>
            <a:ext cx="14630400" cy="1775333"/>
            <a:chOff x="0" y="0"/>
            <a:chExt cx="19507200" cy="23671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507200" cy="2367111"/>
            </a:xfrm>
            <a:custGeom>
              <a:avLst/>
              <a:gdLst/>
              <a:ahLst/>
              <a:cxnLst/>
              <a:rect r="r" b="b" t="t" l="l"/>
              <a:pathLst>
                <a:path h="2367111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2367111"/>
                  </a:lnTo>
                  <a:lnTo>
                    <a:pt x="0" y="23671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547" r="0" b="-786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9507200" cy="2414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L3 DSBD · ISI Dakar</a:t>
              </a: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199" b="true">
                  <a:solidFill>
                    <a:srgbClr val="A8D8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Responsable :</a:t>
              </a:r>
              <a:r>
                <a:rPr lang="en-US" sz="2199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M. LAM Sabarane </a:t>
              </a:r>
            </a:p>
            <a:p>
              <a:pPr algn="l">
                <a:lnSpc>
                  <a:spcPts val="2639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Mars 2026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544800" y="2743200"/>
            <a:ext cx="2194560" cy="2194560"/>
            <a:chOff x="0" y="0"/>
            <a:chExt cx="2926080" cy="2926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28600"/>
              <a:ext cx="2926080" cy="3154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439"/>
                </a:lnSpc>
              </a:pPr>
              <a:r>
                <a:rPr lang="en-US" sz="111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🌍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97280" y="914400"/>
            <a:ext cx="4389120" cy="768096"/>
            <a:chOff x="0" y="0"/>
            <a:chExt cx="5852160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2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8521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 spc="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PROJET P-04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C3A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A2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Pourquoi ce projet 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4960" y="0"/>
            <a:ext cx="1280160" cy="2011680"/>
            <a:chOff x="0" y="0"/>
            <a:chExt cx="170688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1619" t="0" r="-15161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>
                  <a:solidFill>
                    <a:srgbClr val="3D9B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547623"/>
            <a:ext cx="5328923" cy="6791963"/>
            <a:chOff x="0" y="0"/>
            <a:chExt cx="7105231" cy="90559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071360" cy="9022081"/>
            </a:xfrm>
            <a:custGeom>
              <a:avLst/>
              <a:gdLst/>
              <a:ahLst/>
              <a:cxnLst/>
              <a:rect r="r" b="b" t="t" l="l"/>
              <a:pathLst>
                <a:path h="9022081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022081"/>
                  </a:lnTo>
                  <a:lnTo>
                    <a:pt x="0" y="90220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05142" cy="9055862"/>
            </a:xfrm>
            <a:custGeom>
              <a:avLst/>
              <a:gdLst/>
              <a:ahLst/>
              <a:cxnLst/>
              <a:rect r="r" b="b" t="t" l="l"/>
              <a:pathLst>
                <a:path h="905586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9038972"/>
                  </a:lnTo>
                  <a:cubicBezTo>
                    <a:pt x="7105142" y="9048369"/>
                    <a:pt x="7097522" y="9055862"/>
                    <a:pt x="7088251" y="9055862"/>
                  </a:cubicBezTo>
                  <a:lnTo>
                    <a:pt x="16891" y="9055862"/>
                  </a:lnTo>
                  <a:cubicBezTo>
                    <a:pt x="7493" y="9055862"/>
                    <a:pt x="0" y="9048242"/>
                    <a:pt x="0" y="90389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38972"/>
                  </a:lnTo>
                  <a:lnTo>
                    <a:pt x="16891" y="9038972"/>
                  </a:lnTo>
                  <a:lnTo>
                    <a:pt x="16891" y="9022080"/>
                  </a:lnTo>
                  <a:lnTo>
                    <a:pt x="7088251" y="9022080"/>
                  </a:lnTo>
                  <a:lnTo>
                    <a:pt x="7088251" y="9038972"/>
                  </a:lnTo>
                  <a:lnTo>
                    <a:pt x="7071360" y="9038972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2547623"/>
            <a:ext cx="5328923" cy="135131"/>
            <a:chOff x="0" y="0"/>
            <a:chExt cx="7105231" cy="180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071360" cy="146304"/>
            </a:xfrm>
            <a:custGeom>
              <a:avLst/>
              <a:gdLst/>
              <a:ahLst/>
              <a:cxnLst/>
              <a:rect r="r" b="b" t="t" l="l"/>
              <a:pathLst>
                <a:path h="14630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05142" cy="180088"/>
            </a:xfrm>
            <a:custGeom>
              <a:avLst/>
              <a:gdLst/>
              <a:ahLst/>
              <a:cxnLst/>
              <a:rect r="r" b="b" t="t" l="l"/>
              <a:pathLst>
                <a:path h="180088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63195"/>
                  </a:lnTo>
                  <a:cubicBezTo>
                    <a:pt x="7105142" y="172593"/>
                    <a:pt x="7097522" y="180086"/>
                    <a:pt x="70882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088251" y="146304"/>
                  </a:lnTo>
                  <a:lnTo>
                    <a:pt x="7088251" y="163195"/>
                  </a:lnTo>
                  <a:lnTo>
                    <a:pt x="7071360" y="163195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2926080"/>
            <a:ext cx="5303520" cy="1463040"/>
            <a:chOff x="0" y="0"/>
            <a:chExt cx="7071360" cy="1950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713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33" r="0" b="-206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42875"/>
              <a:ext cx="7071360" cy="2093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🌡️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4572000"/>
            <a:ext cx="4754880" cy="1005840"/>
            <a:chOff x="0" y="0"/>
            <a:chExt cx="633984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39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3398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Climat &amp; Alimentation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97280" y="5667375"/>
            <a:ext cx="457200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Les sécheresses, vagues de chaleur et inondations menacent directement la production agricole de millions de Sénégalais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70983" y="2547623"/>
            <a:ext cx="5328923" cy="6791963"/>
            <a:chOff x="0" y="0"/>
            <a:chExt cx="7105231" cy="90559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7071360" cy="9022081"/>
            </a:xfrm>
            <a:custGeom>
              <a:avLst/>
              <a:gdLst/>
              <a:ahLst/>
              <a:cxnLst/>
              <a:rect r="r" b="b" t="t" l="l"/>
              <a:pathLst>
                <a:path h="9022081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022081"/>
                  </a:lnTo>
                  <a:lnTo>
                    <a:pt x="0" y="90220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05142" cy="9055862"/>
            </a:xfrm>
            <a:custGeom>
              <a:avLst/>
              <a:gdLst/>
              <a:ahLst/>
              <a:cxnLst/>
              <a:rect r="r" b="b" t="t" l="l"/>
              <a:pathLst>
                <a:path h="905586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9038972"/>
                  </a:lnTo>
                  <a:cubicBezTo>
                    <a:pt x="7105142" y="9048369"/>
                    <a:pt x="7097522" y="9055862"/>
                    <a:pt x="7088251" y="9055862"/>
                  </a:cubicBezTo>
                  <a:lnTo>
                    <a:pt x="16891" y="9055862"/>
                  </a:lnTo>
                  <a:cubicBezTo>
                    <a:pt x="7493" y="9055862"/>
                    <a:pt x="0" y="9048242"/>
                    <a:pt x="0" y="90389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38972"/>
                  </a:lnTo>
                  <a:lnTo>
                    <a:pt x="16891" y="9038972"/>
                  </a:lnTo>
                  <a:lnTo>
                    <a:pt x="16891" y="9022080"/>
                  </a:lnTo>
                  <a:lnTo>
                    <a:pt x="7088251" y="9022080"/>
                  </a:lnTo>
                  <a:lnTo>
                    <a:pt x="7088251" y="9038972"/>
                  </a:lnTo>
                  <a:lnTo>
                    <a:pt x="7071360" y="9038972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70983" y="2547623"/>
            <a:ext cx="5328923" cy="135131"/>
            <a:chOff x="0" y="0"/>
            <a:chExt cx="7105231" cy="1801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7071360" cy="146304"/>
            </a:xfrm>
            <a:custGeom>
              <a:avLst/>
              <a:gdLst/>
              <a:ahLst/>
              <a:cxnLst/>
              <a:rect r="r" b="b" t="t" l="l"/>
              <a:pathLst>
                <a:path h="14630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05142" cy="180088"/>
            </a:xfrm>
            <a:custGeom>
              <a:avLst/>
              <a:gdLst/>
              <a:ahLst/>
              <a:cxnLst/>
              <a:rect r="r" b="b" t="t" l="l"/>
              <a:pathLst>
                <a:path h="180088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63195"/>
                  </a:lnTo>
                  <a:cubicBezTo>
                    <a:pt x="7105142" y="172593"/>
                    <a:pt x="7097522" y="180086"/>
                    <a:pt x="70882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088251" y="146304"/>
                  </a:lnTo>
                  <a:lnTo>
                    <a:pt x="7088251" y="163195"/>
                  </a:lnTo>
                  <a:lnTo>
                    <a:pt x="7071360" y="163195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583680" y="2926080"/>
            <a:ext cx="5303520" cy="1463040"/>
            <a:chOff x="0" y="0"/>
            <a:chExt cx="7071360" cy="1950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713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33" r="0" b="-2063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42875"/>
              <a:ext cx="7071360" cy="2093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858000" y="4572000"/>
            <a:ext cx="4754880" cy="1005840"/>
            <a:chOff x="0" y="0"/>
            <a:chExt cx="6339840" cy="1341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39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63398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Manque de données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949440" y="5667375"/>
            <a:ext cx="457200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FAO, PAM et OXFAM n'ont pas accès à un système de surveillance climatique automatisé et centralisé pour le Sénégal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423143" y="2547623"/>
            <a:ext cx="5328923" cy="6791963"/>
            <a:chOff x="0" y="0"/>
            <a:chExt cx="7105231" cy="905595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7071360" cy="9022081"/>
            </a:xfrm>
            <a:custGeom>
              <a:avLst/>
              <a:gdLst/>
              <a:ahLst/>
              <a:cxnLst/>
              <a:rect r="r" b="b" t="t" l="l"/>
              <a:pathLst>
                <a:path h="9022081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022081"/>
                  </a:lnTo>
                  <a:lnTo>
                    <a:pt x="0" y="90220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05142" cy="9055862"/>
            </a:xfrm>
            <a:custGeom>
              <a:avLst/>
              <a:gdLst/>
              <a:ahLst/>
              <a:cxnLst/>
              <a:rect r="r" b="b" t="t" l="l"/>
              <a:pathLst>
                <a:path h="905586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9038972"/>
                  </a:lnTo>
                  <a:cubicBezTo>
                    <a:pt x="7105142" y="9048369"/>
                    <a:pt x="7097522" y="9055862"/>
                    <a:pt x="7088251" y="9055862"/>
                  </a:cubicBezTo>
                  <a:lnTo>
                    <a:pt x="16891" y="9055862"/>
                  </a:lnTo>
                  <a:cubicBezTo>
                    <a:pt x="7493" y="9055862"/>
                    <a:pt x="0" y="9048242"/>
                    <a:pt x="0" y="90389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38972"/>
                  </a:lnTo>
                  <a:lnTo>
                    <a:pt x="16891" y="9038972"/>
                  </a:lnTo>
                  <a:lnTo>
                    <a:pt x="16891" y="9022080"/>
                  </a:lnTo>
                  <a:lnTo>
                    <a:pt x="7088251" y="9022080"/>
                  </a:lnTo>
                  <a:lnTo>
                    <a:pt x="7088251" y="9038972"/>
                  </a:lnTo>
                  <a:lnTo>
                    <a:pt x="7071360" y="9038972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423143" y="2547623"/>
            <a:ext cx="5328923" cy="135131"/>
            <a:chOff x="0" y="0"/>
            <a:chExt cx="7105231" cy="18017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7071360" cy="146304"/>
            </a:xfrm>
            <a:custGeom>
              <a:avLst/>
              <a:gdLst/>
              <a:ahLst/>
              <a:cxnLst/>
              <a:rect r="r" b="b" t="t" l="l"/>
              <a:pathLst>
                <a:path h="14630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05142" cy="180088"/>
            </a:xfrm>
            <a:custGeom>
              <a:avLst/>
              <a:gdLst/>
              <a:ahLst/>
              <a:cxnLst/>
              <a:rect r="r" b="b" t="t" l="l"/>
              <a:pathLst>
                <a:path h="180088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63195"/>
                  </a:lnTo>
                  <a:cubicBezTo>
                    <a:pt x="7105142" y="172593"/>
                    <a:pt x="7097522" y="180086"/>
                    <a:pt x="70882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088251" y="146304"/>
                  </a:lnTo>
                  <a:lnTo>
                    <a:pt x="7088251" y="163195"/>
                  </a:lnTo>
                  <a:lnTo>
                    <a:pt x="7071360" y="163195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435840" y="2926080"/>
            <a:ext cx="5303520" cy="1463040"/>
            <a:chOff x="0" y="0"/>
            <a:chExt cx="7071360" cy="1950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713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633" r="0" b="-2063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42875"/>
              <a:ext cx="7071360" cy="2093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710160" y="4572000"/>
            <a:ext cx="4754880" cy="1005840"/>
            <a:chOff x="0" y="0"/>
            <a:chExt cx="6339840" cy="13411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39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63398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Notre solution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2801600" y="5667375"/>
            <a:ext cx="457200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Infrastructure cloud AWS serverless qui collecte, stocke et affiche automatiquement la météo de 8 wilayas toutes les 3 heures</a:t>
            </a:r>
          </a:p>
        </p:txBody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Architecture AWS — Vue d'ensemble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4960" y="0"/>
            <a:ext cx="1280160" cy="2011680"/>
            <a:chOff x="0" y="0"/>
            <a:chExt cx="170688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1619" t="0" r="-15161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>
                  <a:solidFill>
                    <a:srgbClr val="E8F4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9590" y="2541270"/>
            <a:ext cx="3695700" cy="4061460"/>
            <a:chOff x="0" y="0"/>
            <a:chExt cx="4927600" cy="5415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27600" cy="5415280"/>
            </a:xfrm>
            <a:custGeom>
              <a:avLst/>
              <a:gdLst/>
              <a:ahLst/>
              <a:cxnLst/>
              <a:rect r="r" b="b" t="t" l="l"/>
              <a:pathLst>
                <a:path h="5415280" w="492760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5389880"/>
                  </a:lnTo>
                  <a:cubicBezTo>
                    <a:pt x="4927600" y="5403850"/>
                    <a:pt x="4916170" y="5415280"/>
                    <a:pt x="4902200" y="5415280"/>
                  </a:cubicBezTo>
                  <a:lnTo>
                    <a:pt x="25400" y="5415280"/>
                  </a:lnTo>
                  <a:cubicBezTo>
                    <a:pt x="11430" y="5415280"/>
                    <a:pt x="0" y="5403850"/>
                    <a:pt x="0" y="5389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389880"/>
                  </a:lnTo>
                  <a:lnTo>
                    <a:pt x="25400" y="5389880"/>
                  </a:lnTo>
                  <a:lnTo>
                    <a:pt x="25400" y="5364480"/>
                  </a:lnTo>
                  <a:lnTo>
                    <a:pt x="4902200" y="5364480"/>
                  </a:lnTo>
                  <a:lnTo>
                    <a:pt x="4902200" y="5389880"/>
                  </a:lnTo>
                  <a:lnTo>
                    <a:pt x="4876800" y="5389880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2547623"/>
            <a:ext cx="3683003" cy="153419"/>
            <a:chOff x="0" y="0"/>
            <a:chExt cx="4910671" cy="204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4876800" cy="170688"/>
            </a:xfrm>
            <a:custGeom>
              <a:avLst/>
              <a:gdLst/>
              <a:ahLst/>
              <a:cxnLst/>
              <a:rect r="r" b="b" t="t" l="l"/>
              <a:pathLst>
                <a:path h="1706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10582" cy="204472"/>
            </a:xfrm>
            <a:custGeom>
              <a:avLst/>
              <a:gdLst/>
              <a:ahLst/>
              <a:cxnLst/>
              <a:rect r="r" b="b" t="t" l="l"/>
              <a:pathLst>
                <a:path h="20447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7579"/>
                  </a:lnTo>
                  <a:cubicBezTo>
                    <a:pt x="4910582" y="196977"/>
                    <a:pt x="4902962" y="204470"/>
                    <a:pt x="48936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893691" y="170688"/>
                  </a:lnTo>
                  <a:lnTo>
                    <a:pt x="4893691" y="187579"/>
                  </a:lnTo>
                  <a:lnTo>
                    <a:pt x="4876800" y="18757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728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2834640"/>
            <a:ext cx="3657600" cy="1188720"/>
            <a:chOff x="0" y="0"/>
            <a:chExt cx="4876800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487680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⏰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4114800"/>
            <a:ext cx="3291840" cy="731520"/>
            <a:chOff x="0" y="0"/>
            <a:chExt cx="438912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38912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EventBridge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4937760"/>
            <a:ext cx="3291840" cy="1371600"/>
            <a:chOff x="0" y="0"/>
            <a:chExt cx="438912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3891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Réveil auto 3h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52950" y="2541270"/>
            <a:ext cx="3695700" cy="4061460"/>
            <a:chOff x="0" y="0"/>
            <a:chExt cx="4927600" cy="5415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27600" cy="5415280"/>
            </a:xfrm>
            <a:custGeom>
              <a:avLst/>
              <a:gdLst/>
              <a:ahLst/>
              <a:cxnLst/>
              <a:rect r="r" b="b" t="t" l="l"/>
              <a:pathLst>
                <a:path h="5415280" w="492760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5389880"/>
                  </a:lnTo>
                  <a:cubicBezTo>
                    <a:pt x="4927600" y="5403850"/>
                    <a:pt x="4916170" y="5415280"/>
                    <a:pt x="4902200" y="5415280"/>
                  </a:cubicBezTo>
                  <a:lnTo>
                    <a:pt x="25400" y="5415280"/>
                  </a:lnTo>
                  <a:cubicBezTo>
                    <a:pt x="11430" y="5415280"/>
                    <a:pt x="0" y="5403850"/>
                    <a:pt x="0" y="5389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389880"/>
                  </a:lnTo>
                  <a:lnTo>
                    <a:pt x="25400" y="5389880"/>
                  </a:lnTo>
                  <a:lnTo>
                    <a:pt x="25400" y="5364480"/>
                  </a:lnTo>
                  <a:lnTo>
                    <a:pt x="4902200" y="5364480"/>
                  </a:lnTo>
                  <a:lnTo>
                    <a:pt x="4902200" y="5389880"/>
                  </a:lnTo>
                  <a:lnTo>
                    <a:pt x="4876800" y="5389880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559303" y="2547623"/>
            <a:ext cx="3683003" cy="153419"/>
            <a:chOff x="0" y="0"/>
            <a:chExt cx="4910671" cy="2045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4876800" cy="170688"/>
            </a:xfrm>
            <a:custGeom>
              <a:avLst/>
              <a:gdLst/>
              <a:ahLst/>
              <a:cxnLst/>
              <a:rect r="r" b="b" t="t" l="l"/>
              <a:pathLst>
                <a:path h="1706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10582" cy="204472"/>
            </a:xfrm>
            <a:custGeom>
              <a:avLst/>
              <a:gdLst/>
              <a:ahLst/>
              <a:cxnLst/>
              <a:rect r="r" b="b" t="t" l="l"/>
              <a:pathLst>
                <a:path h="20447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7579"/>
                  </a:lnTo>
                  <a:cubicBezTo>
                    <a:pt x="4910582" y="196977"/>
                    <a:pt x="4902962" y="204470"/>
                    <a:pt x="48936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893691" y="170688"/>
                  </a:lnTo>
                  <a:lnTo>
                    <a:pt x="4893691" y="187579"/>
                  </a:lnTo>
                  <a:lnTo>
                    <a:pt x="4876800" y="18757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572000" y="2834640"/>
            <a:ext cx="3657600" cy="1188720"/>
            <a:chOff x="0" y="0"/>
            <a:chExt cx="4876800" cy="1584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14300"/>
              <a:ext cx="487680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754880" y="4114800"/>
            <a:ext cx="3291840" cy="731520"/>
            <a:chOff x="0" y="0"/>
            <a:chExt cx="438912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438912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Lambda ×3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754880" y="4937760"/>
            <a:ext cx="3291840" cy="1371600"/>
            <a:chOff x="0" y="0"/>
            <a:chExt cx="438912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3891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Collecte · Traitement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576310" y="2541270"/>
            <a:ext cx="3695700" cy="4061460"/>
            <a:chOff x="0" y="0"/>
            <a:chExt cx="4927600" cy="5415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540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27600" cy="5415280"/>
            </a:xfrm>
            <a:custGeom>
              <a:avLst/>
              <a:gdLst/>
              <a:ahLst/>
              <a:cxnLst/>
              <a:rect r="r" b="b" t="t" l="l"/>
              <a:pathLst>
                <a:path h="5415280" w="492760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5389880"/>
                  </a:lnTo>
                  <a:cubicBezTo>
                    <a:pt x="4927600" y="5403850"/>
                    <a:pt x="4916170" y="5415280"/>
                    <a:pt x="4902200" y="5415280"/>
                  </a:cubicBezTo>
                  <a:lnTo>
                    <a:pt x="25400" y="5415280"/>
                  </a:lnTo>
                  <a:cubicBezTo>
                    <a:pt x="11430" y="5415280"/>
                    <a:pt x="0" y="5403850"/>
                    <a:pt x="0" y="5389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389880"/>
                  </a:lnTo>
                  <a:lnTo>
                    <a:pt x="25400" y="5389880"/>
                  </a:lnTo>
                  <a:lnTo>
                    <a:pt x="25400" y="5364480"/>
                  </a:lnTo>
                  <a:lnTo>
                    <a:pt x="4902200" y="5364480"/>
                  </a:lnTo>
                  <a:lnTo>
                    <a:pt x="4902200" y="5389880"/>
                  </a:lnTo>
                  <a:lnTo>
                    <a:pt x="4876800" y="5389880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582663" y="2547623"/>
            <a:ext cx="3683003" cy="153419"/>
            <a:chOff x="0" y="0"/>
            <a:chExt cx="4910671" cy="2045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4876800" cy="170688"/>
            </a:xfrm>
            <a:custGeom>
              <a:avLst/>
              <a:gdLst/>
              <a:ahLst/>
              <a:cxnLst/>
              <a:rect r="r" b="b" t="t" l="l"/>
              <a:pathLst>
                <a:path h="1706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1E5FA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910582" cy="204472"/>
            </a:xfrm>
            <a:custGeom>
              <a:avLst/>
              <a:gdLst/>
              <a:ahLst/>
              <a:cxnLst/>
              <a:rect r="r" b="b" t="t" l="l"/>
              <a:pathLst>
                <a:path h="20447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7579"/>
                  </a:lnTo>
                  <a:cubicBezTo>
                    <a:pt x="4910582" y="196977"/>
                    <a:pt x="4902962" y="204470"/>
                    <a:pt x="48936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893691" y="170688"/>
                  </a:lnTo>
                  <a:lnTo>
                    <a:pt x="4893691" y="187579"/>
                  </a:lnTo>
                  <a:lnTo>
                    <a:pt x="4876800" y="18757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5FA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595360" y="2834640"/>
            <a:ext cx="3657600" cy="1188720"/>
            <a:chOff x="0" y="0"/>
            <a:chExt cx="4876800" cy="1584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14300"/>
              <a:ext cx="487680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🗄️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778240" y="4114800"/>
            <a:ext cx="3291840" cy="731520"/>
            <a:chOff x="0" y="0"/>
            <a:chExt cx="4389120" cy="97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38912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DynamoDB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778240" y="4937760"/>
            <a:ext cx="3291840" cy="1371600"/>
            <a:chOff x="0" y="0"/>
            <a:chExt cx="4389120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3891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ClimateData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ClimateDaily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599670" y="2541270"/>
            <a:ext cx="3695700" cy="4061460"/>
            <a:chOff x="0" y="0"/>
            <a:chExt cx="4927600" cy="5415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25400" y="25400"/>
              <a:ext cx="4876800" cy="5364480"/>
            </a:xfrm>
            <a:custGeom>
              <a:avLst/>
              <a:gdLst/>
              <a:ahLst/>
              <a:cxnLst/>
              <a:rect r="r" b="b" t="t" l="l"/>
              <a:pathLst>
                <a:path h="5364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927600" cy="5415280"/>
            </a:xfrm>
            <a:custGeom>
              <a:avLst/>
              <a:gdLst/>
              <a:ahLst/>
              <a:cxnLst/>
              <a:rect r="r" b="b" t="t" l="l"/>
              <a:pathLst>
                <a:path h="5415280" w="492760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5389880"/>
                  </a:lnTo>
                  <a:cubicBezTo>
                    <a:pt x="4927600" y="5403850"/>
                    <a:pt x="4916170" y="5415280"/>
                    <a:pt x="4902200" y="5415280"/>
                  </a:cubicBezTo>
                  <a:lnTo>
                    <a:pt x="25400" y="5415280"/>
                  </a:lnTo>
                  <a:cubicBezTo>
                    <a:pt x="11430" y="5415280"/>
                    <a:pt x="0" y="5403850"/>
                    <a:pt x="0" y="5389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389880"/>
                  </a:lnTo>
                  <a:lnTo>
                    <a:pt x="25400" y="5389880"/>
                  </a:lnTo>
                  <a:lnTo>
                    <a:pt x="25400" y="5364480"/>
                  </a:lnTo>
                  <a:lnTo>
                    <a:pt x="4902200" y="5364480"/>
                  </a:lnTo>
                  <a:lnTo>
                    <a:pt x="4902200" y="5389880"/>
                  </a:lnTo>
                  <a:lnTo>
                    <a:pt x="4876800" y="5389880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606023" y="2547623"/>
            <a:ext cx="3683003" cy="153419"/>
            <a:chOff x="0" y="0"/>
            <a:chExt cx="4910671" cy="20455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4876800" cy="170688"/>
            </a:xfrm>
            <a:custGeom>
              <a:avLst/>
              <a:gdLst/>
              <a:ahLst/>
              <a:cxnLst/>
              <a:rect r="r" b="b" t="t" l="l"/>
              <a:pathLst>
                <a:path h="1706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D47C2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910582" cy="204472"/>
            </a:xfrm>
            <a:custGeom>
              <a:avLst/>
              <a:gdLst/>
              <a:ahLst/>
              <a:cxnLst/>
              <a:rect r="r" b="b" t="t" l="l"/>
              <a:pathLst>
                <a:path h="20447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187579"/>
                  </a:lnTo>
                  <a:cubicBezTo>
                    <a:pt x="4910582" y="196977"/>
                    <a:pt x="4902962" y="204470"/>
                    <a:pt x="489369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4893691" y="170688"/>
                  </a:lnTo>
                  <a:lnTo>
                    <a:pt x="4893691" y="187579"/>
                  </a:lnTo>
                  <a:lnTo>
                    <a:pt x="4876800" y="187579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7C2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618720" y="2834640"/>
            <a:ext cx="3657600" cy="1188720"/>
            <a:chOff x="0" y="0"/>
            <a:chExt cx="4876800" cy="1584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14300"/>
              <a:ext cx="4876800" cy="1699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📦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801600" y="4114800"/>
            <a:ext cx="3291840" cy="731520"/>
            <a:chOff x="0" y="0"/>
            <a:chExt cx="4389120" cy="975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438912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801600" y="4937760"/>
            <a:ext cx="3291840" cy="1371600"/>
            <a:chOff x="0" y="0"/>
            <a:chExt cx="4389120" cy="1828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3891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Lake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Site Web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180837" y="4363717"/>
            <a:ext cx="507997" cy="50797"/>
            <a:chOff x="0" y="0"/>
            <a:chExt cx="677329" cy="6772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33909" y="0"/>
              <a:ext cx="609600" cy="67691"/>
            </a:xfrm>
            <a:custGeom>
              <a:avLst/>
              <a:gdLst/>
              <a:ahLst/>
              <a:cxnLst/>
              <a:rect r="r" b="b" t="t" l="l"/>
              <a:pathLst>
                <a:path h="67691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242816" y="4114800"/>
            <a:ext cx="457200" cy="548640"/>
            <a:chOff x="0" y="0"/>
            <a:chExt cx="60960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0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609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204197" y="4363717"/>
            <a:ext cx="507997" cy="50797"/>
            <a:chOff x="0" y="0"/>
            <a:chExt cx="677329" cy="6772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33909" y="0"/>
              <a:ext cx="609600" cy="67691"/>
            </a:xfrm>
            <a:custGeom>
              <a:avLst/>
              <a:gdLst/>
              <a:ahLst/>
              <a:cxnLst/>
              <a:rect r="r" b="b" t="t" l="l"/>
              <a:pathLst>
                <a:path h="67691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266176" y="4114800"/>
            <a:ext cx="457200" cy="548640"/>
            <a:chOff x="0" y="0"/>
            <a:chExt cx="60960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0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609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227557" y="4363717"/>
            <a:ext cx="507997" cy="50797"/>
            <a:chOff x="0" y="0"/>
            <a:chExt cx="677329" cy="6772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33909" y="0"/>
              <a:ext cx="609600" cy="67691"/>
            </a:xfrm>
            <a:custGeom>
              <a:avLst/>
              <a:gdLst/>
              <a:ahLst/>
              <a:cxnLst/>
              <a:rect r="r" b="b" t="t" l="l"/>
              <a:pathLst>
                <a:path h="67691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289536" y="4114800"/>
            <a:ext cx="457200" cy="548640"/>
            <a:chOff x="0" y="0"/>
            <a:chExt cx="60960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0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3964" t="0" r="-103964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609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35943" y="7028183"/>
            <a:ext cx="3683003" cy="2768603"/>
            <a:chOff x="0" y="0"/>
            <a:chExt cx="4910671" cy="369147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4876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910582" cy="3691382"/>
            </a:xfrm>
            <a:custGeom>
              <a:avLst/>
              <a:gdLst/>
              <a:ahLst/>
              <a:cxnLst/>
              <a:rect r="r" b="b" t="t" l="l"/>
              <a:pathLst>
                <a:path h="369138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3674491"/>
                  </a:lnTo>
                  <a:cubicBezTo>
                    <a:pt x="4910582" y="3683889"/>
                    <a:pt x="4902962" y="3691382"/>
                    <a:pt x="489369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4893691" y="3657600"/>
                  </a:lnTo>
                  <a:lnTo>
                    <a:pt x="4893691" y="3674491"/>
                  </a:lnTo>
                  <a:lnTo>
                    <a:pt x="4876800" y="36744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731520" y="7132320"/>
            <a:ext cx="3291840" cy="731520"/>
            <a:chOff x="0" y="0"/>
            <a:chExt cx="4389120" cy="9753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9525"/>
              <a:ext cx="438912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🚀 CloudFront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31520" y="7955280"/>
            <a:ext cx="3291840" cy="1554480"/>
            <a:chOff x="0" y="0"/>
            <a:chExt cx="4389120" cy="2072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389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587" t="0" r="-10587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38912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Distribution mondiale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 + Cache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559303" y="7028183"/>
            <a:ext cx="3683003" cy="2768603"/>
            <a:chOff x="0" y="0"/>
            <a:chExt cx="4910671" cy="369147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4876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910582" cy="3691382"/>
            </a:xfrm>
            <a:custGeom>
              <a:avLst/>
              <a:gdLst/>
              <a:ahLst/>
              <a:cxnLst/>
              <a:rect r="r" b="b" t="t" l="l"/>
              <a:pathLst>
                <a:path h="369138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3674491"/>
                  </a:lnTo>
                  <a:cubicBezTo>
                    <a:pt x="4910582" y="3683889"/>
                    <a:pt x="4902962" y="3691382"/>
                    <a:pt x="489369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4893691" y="3657600"/>
                  </a:lnTo>
                  <a:lnTo>
                    <a:pt x="4893691" y="3674491"/>
                  </a:lnTo>
                  <a:lnTo>
                    <a:pt x="4876800" y="36744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4754880" y="7132320"/>
            <a:ext cx="3291840" cy="731520"/>
            <a:chOff x="0" y="0"/>
            <a:chExt cx="4389120" cy="9753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438912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🔐 IAM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754880" y="7955280"/>
            <a:ext cx="3291840" cy="1554480"/>
            <a:chOff x="0" y="0"/>
            <a:chExt cx="4389120" cy="20726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389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587" t="0" r="-10587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438912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Sécurité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Moindre privilège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8582663" y="7028183"/>
            <a:ext cx="3683003" cy="2768603"/>
            <a:chOff x="0" y="0"/>
            <a:chExt cx="4910671" cy="369147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4876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910582" cy="3691382"/>
            </a:xfrm>
            <a:custGeom>
              <a:avLst/>
              <a:gdLst/>
              <a:ahLst/>
              <a:cxnLst/>
              <a:rect r="r" b="b" t="t" l="l"/>
              <a:pathLst>
                <a:path h="369138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3674491"/>
                  </a:lnTo>
                  <a:cubicBezTo>
                    <a:pt x="4910582" y="3683889"/>
                    <a:pt x="4902962" y="3691382"/>
                    <a:pt x="489369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4893691" y="3657600"/>
                  </a:lnTo>
                  <a:lnTo>
                    <a:pt x="4893691" y="3674491"/>
                  </a:lnTo>
                  <a:lnTo>
                    <a:pt x="4876800" y="36744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8778240" y="7132320"/>
            <a:ext cx="3291840" cy="731520"/>
            <a:chOff x="0" y="0"/>
            <a:chExt cx="4389120" cy="9753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438912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📊 CloudWatch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8778240" y="7955280"/>
            <a:ext cx="3291840" cy="1554480"/>
            <a:chOff x="0" y="0"/>
            <a:chExt cx="4389120" cy="20726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389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587" t="0" r="-10587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38912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alarmes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Métrique custom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606023" y="7028183"/>
            <a:ext cx="3683003" cy="2768603"/>
            <a:chOff x="0" y="0"/>
            <a:chExt cx="4910671" cy="369147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4876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910582" cy="3691382"/>
            </a:xfrm>
            <a:custGeom>
              <a:avLst/>
              <a:gdLst/>
              <a:ahLst/>
              <a:cxnLst/>
              <a:rect r="r" b="b" t="t" l="l"/>
              <a:pathLst>
                <a:path h="3691382" w="49105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3674491"/>
                  </a:lnTo>
                  <a:cubicBezTo>
                    <a:pt x="4910582" y="3683889"/>
                    <a:pt x="4902962" y="3691382"/>
                    <a:pt x="489369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4893691" y="3657600"/>
                  </a:lnTo>
                  <a:lnTo>
                    <a:pt x="4893691" y="3674491"/>
                  </a:lnTo>
                  <a:lnTo>
                    <a:pt x="4876800" y="36744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801600" y="7132320"/>
            <a:ext cx="3291840" cy="731520"/>
            <a:chOff x="0" y="0"/>
            <a:chExt cx="4389120" cy="9753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438912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📬 SNS + SQS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2801600" y="7955280"/>
            <a:ext cx="3291840" cy="1554480"/>
            <a:chOff x="0" y="0"/>
            <a:chExt cx="4389120" cy="20726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3891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587" t="0" r="-10587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438912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Alertes email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Dead-letter queue</a:t>
              </a:r>
            </a:p>
          </p:txBody>
        </p:sp>
      </p:grpSp>
    </p:spTree>
  </p:cSld>
  <p:clrMapOvr>
    <a:masterClrMapping/>
  </p:clrMapOvr>
  <p:transition spd="fast">
    <p:circl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C3A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A2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Données collectées — 8 wilayas, 6 métriques, toutes les 3h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4960" y="0"/>
            <a:ext cx="1280160" cy="2011680"/>
            <a:chOff x="0" y="0"/>
            <a:chExt cx="170688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1619" t="0" r="-15161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>
                  <a:solidFill>
                    <a:srgbClr val="3D9B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364743"/>
            <a:ext cx="3865883" cy="1579883"/>
            <a:chOff x="0" y="0"/>
            <a:chExt cx="5154511" cy="21065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54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089531"/>
                  </a:lnTo>
                  <a:cubicBezTo>
                    <a:pt x="5154422" y="2098929"/>
                    <a:pt x="5146802" y="2106422"/>
                    <a:pt x="51375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5137531" y="2072640"/>
                  </a:lnTo>
                  <a:lnTo>
                    <a:pt x="5137531" y="2089531"/>
                  </a:lnTo>
                  <a:lnTo>
                    <a:pt x="5120640" y="208953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2364743"/>
            <a:ext cx="171707" cy="1579883"/>
            <a:chOff x="0" y="0"/>
            <a:chExt cx="228943" cy="21065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854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089531"/>
                  </a:lnTo>
                  <a:cubicBezTo>
                    <a:pt x="228854" y="2098929"/>
                    <a:pt x="221234" y="2106422"/>
                    <a:pt x="211963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1963" y="2072640"/>
                  </a:lnTo>
                  <a:lnTo>
                    <a:pt x="211963" y="2089531"/>
                  </a:lnTo>
                  <a:lnTo>
                    <a:pt x="195072" y="20895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2523744"/>
            <a:ext cx="3291840" cy="694944"/>
            <a:chOff x="0" y="0"/>
            <a:chExt cx="438912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38912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Dakar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3255264"/>
            <a:ext cx="3291840" cy="512064"/>
            <a:chOff x="0" y="0"/>
            <a:chExt cx="438912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Ouest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833623" y="2364743"/>
            <a:ext cx="3865883" cy="1579883"/>
            <a:chOff x="0" y="0"/>
            <a:chExt cx="5154511" cy="21065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54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089531"/>
                  </a:lnTo>
                  <a:cubicBezTo>
                    <a:pt x="5154422" y="2098929"/>
                    <a:pt x="5146802" y="2106422"/>
                    <a:pt x="51375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5137531" y="2072640"/>
                  </a:lnTo>
                  <a:lnTo>
                    <a:pt x="5137531" y="2089531"/>
                  </a:lnTo>
                  <a:lnTo>
                    <a:pt x="5120640" y="208953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833623" y="2364743"/>
            <a:ext cx="171707" cy="1579883"/>
            <a:chOff x="0" y="0"/>
            <a:chExt cx="228943" cy="21065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8854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089531"/>
                  </a:lnTo>
                  <a:cubicBezTo>
                    <a:pt x="228854" y="2098929"/>
                    <a:pt x="221234" y="2106422"/>
                    <a:pt x="211963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1963" y="2072640"/>
                  </a:lnTo>
                  <a:lnTo>
                    <a:pt x="211963" y="2089531"/>
                  </a:lnTo>
                  <a:lnTo>
                    <a:pt x="195072" y="20895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212080" y="2523744"/>
            <a:ext cx="3291840" cy="694944"/>
            <a:chOff x="0" y="0"/>
            <a:chExt cx="438912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38912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Thiès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212080" y="3255264"/>
            <a:ext cx="3291840" cy="512064"/>
            <a:chOff x="0" y="0"/>
            <a:chExt cx="438912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Ouest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31303" y="2364743"/>
            <a:ext cx="3865883" cy="1579883"/>
            <a:chOff x="0" y="0"/>
            <a:chExt cx="5154511" cy="21065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54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089531"/>
                  </a:lnTo>
                  <a:cubicBezTo>
                    <a:pt x="5154422" y="2098929"/>
                    <a:pt x="5146802" y="2106422"/>
                    <a:pt x="51375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5137531" y="2072640"/>
                  </a:lnTo>
                  <a:lnTo>
                    <a:pt x="5137531" y="2089531"/>
                  </a:lnTo>
                  <a:lnTo>
                    <a:pt x="5120640" y="208953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31303" y="2364743"/>
            <a:ext cx="171707" cy="1579883"/>
            <a:chOff x="0" y="0"/>
            <a:chExt cx="228943" cy="21065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8854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089531"/>
                  </a:lnTo>
                  <a:cubicBezTo>
                    <a:pt x="228854" y="2098929"/>
                    <a:pt x="221234" y="2106422"/>
                    <a:pt x="211963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1963" y="2072640"/>
                  </a:lnTo>
                  <a:lnTo>
                    <a:pt x="211963" y="2089531"/>
                  </a:lnTo>
                  <a:lnTo>
                    <a:pt x="195072" y="20895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509760" y="2523744"/>
            <a:ext cx="3291840" cy="694944"/>
            <a:chOff x="0" y="0"/>
            <a:chExt cx="438912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38912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Saint-Louis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509760" y="3255264"/>
            <a:ext cx="3291840" cy="512064"/>
            <a:chOff x="0" y="0"/>
            <a:chExt cx="438912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428983" y="2364743"/>
            <a:ext cx="3865883" cy="1579883"/>
            <a:chOff x="0" y="0"/>
            <a:chExt cx="5154511" cy="21065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54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089531"/>
                  </a:lnTo>
                  <a:cubicBezTo>
                    <a:pt x="5154422" y="2098929"/>
                    <a:pt x="5146802" y="2106422"/>
                    <a:pt x="51375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5137531" y="2072640"/>
                  </a:lnTo>
                  <a:lnTo>
                    <a:pt x="5137531" y="2089531"/>
                  </a:lnTo>
                  <a:lnTo>
                    <a:pt x="5120640" y="208953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428983" y="2364743"/>
            <a:ext cx="171707" cy="1579883"/>
            <a:chOff x="0" y="0"/>
            <a:chExt cx="228943" cy="21065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8854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089531"/>
                  </a:lnTo>
                  <a:cubicBezTo>
                    <a:pt x="228854" y="2098929"/>
                    <a:pt x="221234" y="2106422"/>
                    <a:pt x="211963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1963" y="2072640"/>
                  </a:lnTo>
                  <a:lnTo>
                    <a:pt x="211963" y="2089531"/>
                  </a:lnTo>
                  <a:lnTo>
                    <a:pt x="195072" y="20895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807440" y="2523744"/>
            <a:ext cx="3291840" cy="694944"/>
            <a:chOff x="0" y="0"/>
            <a:chExt cx="4389120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38912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Ziguinchor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807440" y="3255264"/>
            <a:ext cx="3291840" cy="512064"/>
            <a:chOff x="0" y="0"/>
            <a:chExt cx="438912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35943" y="4284983"/>
            <a:ext cx="3865883" cy="1579883"/>
            <a:chOff x="0" y="0"/>
            <a:chExt cx="5154511" cy="21065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154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089531"/>
                  </a:lnTo>
                  <a:cubicBezTo>
                    <a:pt x="5154422" y="2098929"/>
                    <a:pt x="5146802" y="2106422"/>
                    <a:pt x="51375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5137531" y="2072640"/>
                  </a:lnTo>
                  <a:lnTo>
                    <a:pt x="5137531" y="2089531"/>
                  </a:lnTo>
                  <a:lnTo>
                    <a:pt x="5120640" y="208953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35943" y="4284983"/>
            <a:ext cx="171707" cy="1579883"/>
            <a:chOff x="0" y="0"/>
            <a:chExt cx="228943" cy="21065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8854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089531"/>
                  </a:lnTo>
                  <a:cubicBezTo>
                    <a:pt x="228854" y="2098929"/>
                    <a:pt x="221234" y="2106422"/>
                    <a:pt x="211963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1963" y="2072640"/>
                  </a:lnTo>
                  <a:lnTo>
                    <a:pt x="211963" y="2089531"/>
                  </a:lnTo>
                  <a:lnTo>
                    <a:pt x="195072" y="20895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14400" y="4443984"/>
            <a:ext cx="3291840" cy="694944"/>
            <a:chOff x="0" y="0"/>
            <a:chExt cx="438912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438912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Tambacounda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14400" y="5175504"/>
            <a:ext cx="3291840" cy="512064"/>
            <a:chOff x="0" y="0"/>
            <a:chExt cx="438912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833623" y="4284983"/>
            <a:ext cx="3865883" cy="1579883"/>
            <a:chOff x="0" y="0"/>
            <a:chExt cx="5154511" cy="210651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54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089531"/>
                  </a:lnTo>
                  <a:cubicBezTo>
                    <a:pt x="5154422" y="2098929"/>
                    <a:pt x="5146802" y="2106422"/>
                    <a:pt x="51375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5137531" y="2072640"/>
                  </a:lnTo>
                  <a:lnTo>
                    <a:pt x="5137531" y="2089531"/>
                  </a:lnTo>
                  <a:lnTo>
                    <a:pt x="5120640" y="208953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833623" y="4284983"/>
            <a:ext cx="171707" cy="1579883"/>
            <a:chOff x="0" y="0"/>
            <a:chExt cx="228943" cy="21065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8854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089531"/>
                  </a:lnTo>
                  <a:cubicBezTo>
                    <a:pt x="228854" y="2098929"/>
                    <a:pt x="221234" y="2106422"/>
                    <a:pt x="211963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1963" y="2072640"/>
                  </a:lnTo>
                  <a:lnTo>
                    <a:pt x="211963" y="2089531"/>
                  </a:lnTo>
                  <a:lnTo>
                    <a:pt x="195072" y="20895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5212080" y="4443984"/>
            <a:ext cx="3291840" cy="694944"/>
            <a:chOff x="0" y="0"/>
            <a:chExt cx="4389120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438912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Kaolack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212080" y="5175504"/>
            <a:ext cx="3291840" cy="512064"/>
            <a:chOff x="0" y="0"/>
            <a:chExt cx="4389120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131303" y="4284983"/>
            <a:ext cx="3865883" cy="1579883"/>
            <a:chOff x="0" y="0"/>
            <a:chExt cx="5154511" cy="210651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154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089531"/>
                  </a:lnTo>
                  <a:cubicBezTo>
                    <a:pt x="5154422" y="2098929"/>
                    <a:pt x="5146802" y="2106422"/>
                    <a:pt x="51375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5137531" y="2072640"/>
                  </a:lnTo>
                  <a:lnTo>
                    <a:pt x="5137531" y="2089531"/>
                  </a:lnTo>
                  <a:lnTo>
                    <a:pt x="5120640" y="208953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131303" y="4284983"/>
            <a:ext cx="171707" cy="1579883"/>
            <a:chOff x="0" y="0"/>
            <a:chExt cx="228943" cy="210651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8854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089531"/>
                  </a:lnTo>
                  <a:cubicBezTo>
                    <a:pt x="228854" y="2098929"/>
                    <a:pt x="221234" y="2106422"/>
                    <a:pt x="211963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1963" y="2072640"/>
                  </a:lnTo>
                  <a:lnTo>
                    <a:pt x="211963" y="2089531"/>
                  </a:lnTo>
                  <a:lnTo>
                    <a:pt x="195072" y="20895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509760" y="4443984"/>
            <a:ext cx="3291840" cy="694944"/>
            <a:chOff x="0" y="0"/>
            <a:chExt cx="4389120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438912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Louga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509760" y="5175504"/>
            <a:ext cx="3291840" cy="512064"/>
            <a:chOff x="0" y="0"/>
            <a:chExt cx="438912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428983" y="4284983"/>
            <a:ext cx="3865883" cy="1579883"/>
            <a:chOff x="0" y="0"/>
            <a:chExt cx="5154511" cy="210651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154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2089531"/>
                  </a:lnTo>
                  <a:cubicBezTo>
                    <a:pt x="5154422" y="2098929"/>
                    <a:pt x="5146802" y="2106422"/>
                    <a:pt x="513753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5137531" y="2072640"/>
                  </a:lnTo>
                  <a:lnTo>
                    <a:pt x="5137531" y="2089531"/>
                  </a:lnTo>
                  <a:lnTo>
                    <a:pt x="5120640" y="208953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428983" y="4284983"/>
            <a:ext cx="171707" cy="1579883"/>
            <a:chOff x="0" y="0"/>
            <a:chExt cx="228943" cy="210651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8854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089531"/>
                  </a:lnTo>
                  <a:cubicBezTo>
                    <a:pt x="228854" y="2098929"/>
                    <a:pt x="221234" y="2106422"/>
                    <a:pt x="211963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1963" y="2072640"/>
                  </a:lnTo>
                  <a:lnTo>
                    <a:pt x="211963" y="2089531"/>
                  </a:lnTo>
                  <a:lnTo>
                    <a:pt x="195072" y="20895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807440" y="4443984"/>
            <a:ext cx="3291840" cy="694944"/>
            <a:chOff x="0" y="0"/>
            <a:chExt cx="4389120" cy="9265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4389120" cy="945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Diourbel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807440" y="5175504"/>
            <a:ext cx="3291840" cy="512064"/>
            <a:chOff x="0" y="0"/>
            <a:chExt cx="4389120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48640" y="6309360"/>
            <a:ext cx="16459200" cy="548640"/>
            <a:chOff x="0" y="0"/>
            <a:chExt cx="21945600" cy="7315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A7A4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 métriques collectées par wilaya :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35943" y="6936743"/>
            <a:ext cx="2677163" cy="2585723"/>
            <a:chOff x="0" y="0"/>
            <a:chExt cx="3569551" cy="344763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35356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569462" cy="3447542"/>
            </a:xfrm>
            <a:custGeom>
              <a:avLst/>
              <a:gdLst/>
              <a:ahLst/>
              <a:cxnLst/>
              <a:rect r="r" b="b" t="t" l="l"/>
              <a:pathLst>
                <a:path h="3447542" w="3569462">
                  <a:moveTo>
                    <a:pt x="16891" y="0"/>
                  </a:moveTo>
                  <a:lnTo>
                    <a:pt x="3552571" y="0"/>
                  </a:lnTo>
                  <a:cubicBezTo>
                    <a:pt x="3561969" y="0"/>
                    <a:pt x="3569462" y="7620"/>
                    <a:pt x="3569462" y="16891"/>
                  </a:cubicBezTo>
                  <a:lnTo>
                    <a:pt x="3569462" y="3430651"/>
                  </a:lnTo>
                  <a:cubicBezTo>
                    <a:pt x="3569462" y="3440049"/>
                    <a:pt x="3561842" y="3447542"/>
                    <a:pt x="355257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3552571" y="3413760"/>
                  </a:lnTo>
                  <a:lnTo>
                    <a:pt x="3552571" y="3430651"/>
                  </a:lnTo>
                  <a:lnTo>
                    <a:pt x="3535680" y="3430651"/>
                  </a:lnTo>
                  <a:lnTo>
                    <a:pt x="3535680" y="16891"/>
                  </a:lnTo>
                  <a:lnTo>
                    <a:pt x="3552571" y="16891"/>
                  </a:lnTo>
                  <a:lnTo>
                    <a:pt x="3552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548640" y="7040880"/>
            <a:ext cx="2651760" cy="914400"/>
            <a:chOff x="0" y="0"/>
            <a:chExt cx="3535680" cy="12192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535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76200"/>
              <a:ext cx="35356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🌡️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640080" y="8010144"/>
            <a:ext cx="2468880" cy="640080"/>
            <a:chOff x="0" y="0"/>
            <a:chExt cx="3291840" cy="8534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291840" cy="853440"/>
            </a:xfrm>
            <a:custGeom>
              <a:avLst/>
              <a:gdLst/>
              <a:ahLst/>
              <a:cxnLst/>
              <a:rect r="r" b="b" t="t" l="l"/>
              <a:pathLst>
                <a:path h="8534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3291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Température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640080" y="8686800"/>
            <a:ext cx="2468880" cy="548640"/>
            <a:chOff x="0" y="0"/>
            <a:chExt cx="3291840" cy="73152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°C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3462023" y="6936743"/>
            <a:ext cx="2677163" cy="2585723"/>
            <a:chOff x="0" y="0"/>
            <a:chExt cx="3569551" cy="344763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35356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569462" cy="3447542"/>
            </a:xfrm>
            <a:custGeom>
              <a:avLst/>
              <a:gdLst/>
              <a:ahLst/>
              <a:cxnLst/>
              <a:rect r="r" b="b" t="t" l="l"/>
              <a:pathLst>
                <a:path h="3447542" w="3569462">
                  <a:moveTo>
                    <a:pt x="16891" y="0"/>
                  </a:moveTo>
                  <a:lnTo>
                    <a:pt x="3552571" y="0"/>
                  </a:lnTo>
                  <a:cubicBezTo>
                    <a:pt x="3561969" y="0"/>
                    <a:pt x="3569462" y="7620"/>
                    <a:pt x="3569462" y="16891"/>
                  </a:cubicBezTo>
                  <a:lnTo>
                    <a:pt x="3569462" y="3430651"/>
                  </a:lnTo>
                  <a:cubicBezTo>
                    <a:pt x="3569462" y="3440049"/>
                    <a:pt x="3561842" y="3447542"/>
                    <a:pt x="355257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3552571" y="3413760"/>
                  </a:lnTo>
                  <a:lnTo>
                    <a:pt x="3552571" y="3430651"/>
                  </a:lnTo>
                  <a:lnTo>
                    <a:pt x="3535680" y="3430651"/>
                  </a:lnTo>
                  <a:lnTo>
                    <a:pt x="3535680" y="16891"/>
                  </a:lnTo>
                  <a:lnTo>
                    <a:pt x="3552571" y="16891"/>
                  </a:lnTo>
                  <a:lnTo>
                    <a:pt x="3552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3474720" y="7040880"/>
            <a:ext cx="2651760" cy="914400"/>
            <a:chOff x="0" y="0"/>
            <a:chExt cx="3535680" cy="12192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535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76200"/>
              <a:ext cx="35356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💧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3566160" y="8010144"/>
            <a:ext cx="2468880" cy="640080"/>
            <a:chOff x="0" y="0"/>
            <a:chExt cx="3291840" cy="8534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291840" cy="853440"/>
            </a:xfrm>
            <a:custGeom>
              <a:avLst/>
              <a:gdLst/>
              <a:ahLst/>
              <a:cxnLst/>
              <a:rect r="r" b="b" t="t" l="l"/>
              <a:pathLst>
                <a:path h="8534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3291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Humidité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3566160" y="8686800"/>
            <a:ext cx="2468880" cy="548640"/>
            <a:chOff x="0" y="0"/>
            <a:chExt cx="3291840" cy="73152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%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6388103" y="6936743"/>
            <a:ext cx="2677163" cy="2585723"/>
            <a:chOff x="0" y="0"/>
            <a:chExt cx="3569551" cy="344763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35356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3569462" cy="3447542"/>
            </a:xfrm>
            <a:custGeom>
              <a:avLst/>
              <a:gdLst/>
              <a:ahLst/>
              <a:cxnLst/>
              <a:rect r="r" b="b" t="t" l="l"/>
              <a:pathLst>
                <a:path h="3447542" w="3569462">
                  <a:moveTo>
                    <a:pt x="16891" y="0"/>
                  </a:moveTo>
                  <a:lnTo>
                    <a:pt x="3552571" y="0"/>
                  </a:lnTo>
                  <a:cubicBezTo>
                    <a:pt x="3561969" y="0"/>
                    <a:pt x="3569462" y="7620"/>
                    <a:pt x="3569462" y="16891"/>
                  </a:cubicBezTo>
                  <a:lnTo>
                    <a:pt x="3569462" y="3430651"/>
                  </a:lnTo>
                  <a:cubicBezTo>
                    <a:pt x="3569462" y="3440049"/>
                    <a:pt x="3561842" y="3447542"/>
                    <a:pt x="355257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3552571" y="3413760"/>
                  </a:lnTo>
                  <a:lnTo>
                    <a:pt x="3552571" y="3430651"/>
                  </a:lnTo>
                  <a:lnTo>
                    <a:pt x="3535680" y="3430651"/>
                  </a:lnTo>
                  <a:lnTo>
                    <a:pt x="3535680" y="16891"/>
                  </a:lnTo>
                  <a:lnTo>
                    <a:pt x="3552571" y="16891"/>
                  </a:lnTo>
                  <a:lnTo>
                    <a:pt x="3552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6400800" y="7040880"/>
            <a:ext cx="2651760" cy="914400"/>
            <a:chOff x="0" y="0"/>
            <a:chExt cx="3535680" cy="12192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535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76200"/>
              <a:ext cx="35356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🌧️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6492240" y="8010144"/>
            <a:ext cx="2468880" cy="640080"/>
            <a:chOff x="0" y="0"/>
            <a:chExt cx="3291840" cy="853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291840" cy="853440"/>
            </a:xfrm>
            <a:custGeom>
              <a:avLst/>
              <a:gdLst/>
              <a:ahLst/>
              <a:cxnLst/>
              <a:rect r="r" b="b" t="t" l="l"/>
              <a:pathLst>
                <a:path h="8534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3291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Précipitations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6492240" y="8686800"/>
            <a:ext cx="2468880" cy="548640"/>
            <a:chOff x="0" y="0"/>
            <a:chExt cx="3291840" cy="73152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mm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9314183" y="6936743"/>
            <a:ext cx="2677163" cy="2585723"/>
            <a:chOff x="0" y="0"/>
            <a:chExt cx="3569551" cy="3447631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35356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3569462" cy="3447542"/>
            </a:xfrm>
            <a:custGeom>
              <a:avLst/>
              <a:gdLst/>
              <a:ahLst/>
              <a:cxnLst/>
              <a:rect r="r" b="b" t="t" l="l"/>
              <a:pathLst>
                <a:path h="3447542" w="3569462">
                  <a:moveTo>
                    <a:pt x="16891" y="0"/>
                  </a:moveTo>
                  <a:lnTo>
                    <a:pt x="3552571" y="0"/>
                  </a:lnTo>
                  <a:cubicBezTo>
                    <a:pt x="3561969" y="0"/>
                    <a:pt x="3569462" y="7620"/>
                    <a:pt x="3569462" y="16891"/>
                  </a:cubicBezTo>
                  <a:lnTo>
                    <a:pt x="3569462" y="3430651"/>
                  </a:lnTo>
                  <a:cubicBezTo>
                    <a:pt x="3569462" y="3440049"/>
                    <a:pt x="3561842" y="3447542"/>
                    <a:pt x="355257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3552571" y="3413760"/>
                  </a:lnTo>
                  <a:lnTo>
                    <a:pt x="3552571" y="3430651"/>
                  </a:lnTo>
                  <a:lnTo>
                    <a:pt x="3535680" y="3430651"/>
                  </a:lnTo>
                  <a:lnTo>
                    <a:pt x="3535680" y="16891"/>
                  </a:lnTo>
                  <a:lnTo>
                    <a:pt x="3552571" y="16891"/>
                  </a:lnTo>
                  <a:lnTo>
                    <a:pt x="3552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326880" y="7040880"/>
            <a:ext cx="2651760" cy="914400"/>
            <a:chOff x="0" y="0"/>
            <a:chExt cx="3535680" cy="121920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535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76200"/>
              <a:ext cx="35356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💨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9418320" y="8010144"/>
            <a:ext cx="2468880" cy="640080"/>
            <a:chOff x="0" y="0"/>
            <a:chExt cx="3291840" cy="853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291840" cy="853440"/>
            </a:xfrm>
            <a:custGeom>
              <a:avLst/>
              <a:gdLst/>
              <a:ahLst/>
              <a:cxnLst/>
              <a:rect r="r" b="b" t="t" l="l"/>
              <a:pathLst>
                <a:path h="8534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3291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Vent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9418320" y="8686800"/>
            <a:ext cx="2468880" cy="548640"/>
            <a:chOff x="0" y="0"/>
            <a:chExt cx="3291840" cy="73152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km/h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2240263" y="6936743"/>
            <a:ext cx="2677163" cy="2585723"/>
            <a:chOff x="0" y="0"/>
            <a:chExt cx="3569551" cy="3447631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35356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3569462" cy="3447542"/>
            </a:xfrm>
            <a:custGeom>
              <a:avLst/>
              <a:gdLst/>
              <a:ahLst/>
              <a:cxnLst/>
              <a:rect r="r" b="b" t="t" l="l"/>
              <a:pathLst>
                <a:path h="3447542" w="3569462">
                  <a:moveTo>
                    <a:pt x="16891" y="0"/>
                  </a:moveTo>
                  <a:lnTo>
                    <a:pt x="3552571" y="0"/>
                  </a:lnTo>
                  <a:cubicBezTo>
                    <a:pt x="3561969" y="0"/>
                    <a:pt x="3569462" y="7620"/>
                    <a:pt x="3569462" y="16891"/>
                  </a:cubicBezTo>
                  <a:lnTo>
                    <a:pt x="3569462" y="3430651"/>
                  </a:lnTo>
                  <a:cubicBezTo>
                    <a:pt x="3569462" y="3440049"/>
                    <a:pt x="3561842" y="3447542"/>
                    <a:pt x="355257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3552571" y="3413760"/>
                  </a:lnTo>
                  <a:lnTo>
                    <a:pt x="3552571" y="3430651"/>
                  </a:lnTo>
                  <a:lnTo>
                    <a:pt x="3535680" y="3430651"/>
                  </a:lnTo>
                  <a:lnTo>
                    <a:pt x="3535680" y="16891"/>
                  </a:lnTo>
                  <a:lnTo>
                    <a:pt x="3552571" y="16891"/>
                  </a:lnTo>
                  <a:lnTo>
                    <a:pt x="3552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2252960" y="7040880"/>
            <a:ext cx="2651760" cy="914400"/>
            <a:chOff x="0" y="0"/>
            <a:chExt cx="3535680" cy="121920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3535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76200"/>
              <a:ext cx="35356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🔵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2344400" y="8010144"/>
            <a:ext cx="2468880" cy="640080"/>
            <a:chOff x="0" y="0"/>
            <a:chExt cx="3291840" cy="85344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3291840" cy="853440"/>
            </a:xfrm>
            <a:custGeom>
              <a:avLst/>
              <a:gdLst/>
              <a:ahLst/>
              <a:cxnLst/>
              <a:rect r="r" b="b" t="t" l="l"/>
              <a:pathLst>
                <a:path h="8534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3291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Pression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2344400" y="8686800"/>
            <a:ext cx="2468880" cy="548640"/>
            <a:chOff x="0" y="0"/>
            <a:chExt cx="3291840" cy="73152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hPa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5166343" y="6936743"/>
            <a:ext cx="2677163" cy="2585723"/>
            <a:chOff x="0" y="0"/>
            <a:chExt cx="3569551" cy="3447631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35356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3569462" cy="3447542"/>
            </a:xfrm>
            <a:custGeom>
              <a:avLst/>
              <a:gdLst/>
              <a:ahLst/>
              <a:cxnLst/>
              <a:rect r="r" b="b" t="t" l="l"/>
              <a:pathLst>
                <a:path h="3447542" w="3569462">
                  <a:moveTo>
                    <a:pt x="16891" y="0"/>
                  </a:moveTo>
                  <a:lnTo>
                    <a:pt x="3552571" y="0"/>
                  </a:lnTo>
                  <a:cubicBezTo>
                    <a:pt x="3561969" y="0"/>
                    <a:pt x="3569462" y="7620"/>
                    <a:pt x="3569462" y="16891"/>
                  </a:cubicBezTo>
                  <a:lnTo>
                    <a:pt x="3569462" y="3430651"/>
                  </a:lnTo>
                  <a:cubicBezTo>
                    <a:pt x="3569462" y="3440049"/>
                    <a:pt x="3561842" y="3447542"/>
                    <a:pt x="355257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3552571" y="3413760"/>
                  </a:lnTo>
                  <a:lnTo>
                    <a:pt x="3552571" y="3430651"/>
                  </a:lnTo>
                  <a:lnTo>
                    <a:pt x="3535680" y="3430651"/>
                  </a:lnTo>
                  <a:lnTo>
                    <a:pt x="3535680" y="16891"/>
                  </a:lnTo>
                  <a:lnTo>
                    <a:pt x="3552571" y="16891"/>
                  </a:lnTo>
                  <a:lnTo>
                    <a:pt x="3552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5179040" y="7040880"/>
            <a:ext cx="2651760" cy="914400"/>
            <a:chOff x="0" y="0"/>
            <a:chExt cx="3535680" cy="121920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3535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76200"/>
              <a:ext cx="353568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☁️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5270480" y="8010144"/>
            <a:ext cx="2468880" cy="640080"/>
            <a:chOff x="0" y="0"/>
            <a:chExt cx="3291840" cy="853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3291840" cy="853440"/>
            </a:xfrm>
            <a:custGeom>
              <a:avLst/>
              <a:gdLst/>
              <a:ahLst/>
              <a:cxnLst/>
              <a:rect r="r" b="b" t="t" l="l"/>
              <a:pathLst>
                <a:path h="8534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32918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Condition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5270480" y="8686800"/>
            <a:ext cx="2468880" cy="548640"/>
            <a:chOff x="0" y="0"/>
            <a:chExt cx="3291840" cy="73152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texte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5FA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5FA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Modèle de données — Amazon DynamoDB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4960" y="0"/>
            <a:ext cx="1280160" cy="2011680"/>
            <a:chOff x="0" y="0"/>
            <a:chExt cx="170688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1619" t="0" r="-15161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>
                  <a:solidFill>
                    <a:srgbClr val="A8C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9590" y="2175510"/>
            <a:ext cx="8084820" cy="7170420"/>
            <a:chOff x="0" y="0"/>
            <a:chExt cx="10779760" cy="9560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107289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79760" cy="9560560"/>
            </a:xfrm>
            <a:custGeom>
              <a:avLst/>
              <a:gdLst/>
              <a:ahLst/>
              <a:cxnLst/>
              <a:rect r="r" b="b" t="t" l="l"/>
              <a:pathLst>
                <a:path h="9560560" w="10779760">
                  <a:moveTo>
                    <a:pt x="25400" y="0"/>
                  </a:moveTo>
                  <a:lnTo>
                    <a:pt x="10754360" y="0"/>
                  </a:lnTo>
                  <a:cubicBezTo>
                    <a:pt x="10768330" y="0"/>
                    <a:pt x="10779760" y="11430"/>
                    <a:pt x="10779760" y="25400"/>
                  </a:cubicBezTo>
                  <a:lnTo>
                    <a:pt x="10779760" y="9535160"/>
                  </a:lnTo>
                  <a:cubicBezTo>
                    <a:pt x="10779760" y="9549130"/>
                    <a:pt x="10768330" y="9560560"/>
                    <a:pt x="10754360" y="9560560"/>
                  </a:cubicBezTo>
                  <a:lnTo>
                    <a:pt x="25400" y="9560560"/>
                  </a:lnTo>
                  <a:cubicBezTo>
                    <a:pt x="11430" y="9560560"/>
                    <a:pt x="0" y="9549130"/>
                    <a:pt x="0" y="9535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9535160"/>
                  </a:lnTo>
                  <a:lnTo>
                    <a:pt x="25400" y="9535160"/>
                  </a:lnTo>
                  <a:lnTo>
                    <a:pt x="25400" y="9509760"/>
                  </a:lnTo>
                  <a:lnTo>
                    <a:pt x="10754360" y="9509760"/>
                  </a:lnTo>
                  <a:lnTo>
                    <a:pt x="10754360" y="9535160"/>
                  </a:lnTo>
                  <a:lnTo>
                    <a:pt x="10728960" y="9535160"/>
                  </a:lnTo>
                  <a:lnTo>
                    <a:pt x="10728960" y="25400"/>
                  </a:lnTo>
                  <a:lnTo>
                    <a:pt x="10754360" y="25400"/>
                  </a:lnTo>
                  <a:lnTo>
                    <a:pt x="107543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2181863"/>
            <a:ext cx="8072123" cy="939803"/>
            <a:chOff x="0" y="0"/>
            <a:chExt cx="10762831" cy="1253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728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5FA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62742" cy="1252984"/>
            </a:xfrm>
            <a:custGeom>
              <a:avLst/>
              <a:gdLst/>
              <a:ahLst/>
              <a:cxnLst/>
              <a:rect r="r" b="b" t="t" l="l"/>
              <a:pathLst>
                <a:path h="125298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236091"/>
                  </a:lnTo>
                  <a:cubicBezTo>
                    <a:pt x="10762742" y="1245489"/>
                    <a:pt x="10755122" y="1252982"/>
                    <a:pt x="1074585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0745851" y="1219200"/>
                  </a:lnTo>
                  <a:lnTo>
                    <a:pt x="10745851" y="1236091"/>
                  </a:lnTo>
                  <a:lnTo>
                    <a:pt x="10728960" y="123609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5FA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2194560"/>
            <a:ext cx="7680960" cy="914400"/>
            <a:chOff x="0" y="0"/>
            <a:chExt cx="1024128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024128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🗄️  ClimateData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7383" y="3334007"/>
            <a:ext cx="848363" cy="537467"/>
            <a:chOff x="0" y="0"/>
            <a:chExt cx="1131151" cy="7166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E5FA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1062" cy="716536"/>
            </a:xfrm>
            <a:custGeom>
              <a:avLst/>
              <a:gdLst/>
              <a:ahLst/>
              <a:cxnLst/>
              <a:rect r="r" b="b" t="t" l="l"/>
              <a:pathLst>
                <a:path h="71653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699643"/>
                  </a:lnTo>
                  <a:cubicBezTo>
                    <a:pt x="1131062" y="709041"/>
                    <a:pt x="1123442" y="716534"/>
                    <a:pt x="111417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14171" y="682752"/>
                  </a:lnTo>
                  <a:lnTo>
                    <a:pt x="1114171" y="699643"/>
                  </a:lnTo>
                  <a:lnTo>
                    <a:pt x="1097280" y="69964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" y="3346704"/>
            <a:ext cx="822960" cy="512064"/>
            <a:chOff x="0" y="0"/>
            <a:chExt cx="109728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09728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54480" y="3291840"/>
            <a:ext cx="3657600" cy="640080"/>
            <a:chOff x="0" y="0"/>
            <a:chExt cx="487680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wilaya_annee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03520" y="3291840"/>
            <a:ext cx="3108960" cy="640080"/>
            <a:chOff x="0" y="0"/>
            <a:chExt cx="414528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ex: Dakar#2026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27383" y="4010663"/>
            <a:ext cx="848363" cy="537467"/>
            <a:chOff x="0" y="0"/>
            <a:chExt cx="1131151" cy="71662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E5FA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1062" cy="716536"/>
            </a:xfrm>
            <a:custGeom>
              <a:avLst/>
              <a:gdLst/>
              <a:ahLst/>
              <a:cxnLst/>
              <a:rect r="r" b="b" t="t" l="l"/>
              <a:pathLst>
                <a:path h="71653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699643"/>
                  </a:lnTo>
                  <a:cubicBezTo>
                    <a:pt x="1131062" y="709041"/>
                    <a:pt x="1123442" y="716534"/>
                    <a:pt x="111417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14171" y="682752"/>
                  </a:lnTo>
                  <a:lnTo>
                    <a:pt x="1114171" y="699643"/>
                  </a:lnTo>
                  <a:lnTo>
                    <a:pt x="1097280" y="69964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0080" y="4023360"/>
            <a:ext cx="822960" cy="512064"/>
            <a:chOff x="0" y="0"/>
            <a:chExt cx="109728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09728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54480" y="3968496"/>
            <a:ext cx="3657600" cy="640080"/>
            <a:chOff x="0" y="0"/>
            <a:chExt cx="487680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mois_jour_heure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03520" y="3968496"/>
            <a:ext cx="3108960" cy="640080"/>
            <a:chOff x="0" y="0"/>
            <a:chExt cx="414528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ex: 03#28#15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54480" y="4645152"/>
            <a:ext cx="3657600" cy="640080"/>
            <a:chOff x="0" y="0"/>
            <a:chExt cx="487680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temp_celsius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03520" y="4645152"/>
            <a:ext cx="3108960" cy="640080"/>
            <a:chOff x="0" y="0"/>
            <a:chExt cx="414528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28.5°C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54480" y="5321808"/>
            <a:ext cx="3657600" cy="640080"/>
            <a:chOff x="0" y="0"/>
            <a:chExt cx="487680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humidite_pct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303520" y="5321808"/>
            <a:ext cx="3108960" cy="640080"/>
            <a:chOff x="0" y="0"/>
            <a:chExt cx="414528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74%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54480" y="5998464"/>
            <a:ext cx="3657600" cy="640080"/>
            <a:chOff x="0" y="0"/>
            <a:chExt cx="487680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precipitation_mm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303520" y="5998464"/>
            <a:ext cx="3108960" cy="640080"/>
            <a:chOff x="0" y="0"/>
            <a:chExt cx="414528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0.5mm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54480" y="6675120"/>
            <a:ext cx="3657600" cy="640080"/>
            <a:chOff x="0" y="0"/>
            <a:chExt cx="487680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vent_kmh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303520" y="6675120"/>
            <a:ext cx="3108960" cy="640080"/>
            <a:chOff x="0" y="0"/>
            <a:chExt cx="414528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18.3km/h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54480" y="7351776"/>
            <a:ext cx="3657600" cy="640080"/>
            <a:chOff x="0" y="0"/>
            <a:chExt cx="487680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condition_meteo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303520" y="7351776"/>
            <a:ext cx="3108960" cy="640080"/>
            <a:chOff x="0" y="0"/>
            <a:chExt cx="414528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Ensoleillé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27383" y="8070599"/>
            <a:ext cx="848363" cy="537467"/>
            <a:chOff x="0" y="0"/>
            <a:chExt cx="1131151" cy="71662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D47C2A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31062" cy="716536"/>
            </a:xfrm>
            <a:custGeom>
              <a:avLst/>
              <a:gdLst/>
              <a:ahLst/>
              <a:cxnLst/>
              <a:rect r="r" b="b" t="t" l="l"/>
              <a:pathLst>
                <a:path h="71653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699643"/>
                  </a:lnTo>
                  <a:cubicBezTo>
                    <a:pt x="1131062" y="709041"/>
                    <a:pt x="1123442" y="716534"/>
                    <a:pt x="111417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14171" y="682752"/>
                  </a:lnTo>
                  <a:lnTo>
                    <a:pt x="1114171" y="699643"/>
                  </a:lnTo>
                  <a:lnTo>
                    <a:pt x="1097280" y="69964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0080" y="8083296"/>
            <a:ext cx="822960" cy="512064"/>
            <a:chOff x="0" y="0"/>
            <a:chExt cx="109728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109728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TTL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554480" y="8028432"/>
            <a:ext cx="3657600" cy="640080"/>
            <a:chOff x="0" y="0"/>
            <a:chExt cx="487680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ttl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303520" y="8028432"/>
            <a:ext cx="3108960" cy="640080"/>
            <a:chOff x="0" y="0"/>
            <a:chExt cx="4145280" cy="853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365 jours auto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07830" y="2175510"/>
            <a:ext cx="8084820" cy="7170420"/>
            <a:chOff x="0" y="0"/>
            <a:chExt cx="10779760" cy="95605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25400" y="25400"/>
              <a:ext cx="107289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779760" cy="9560560"/>
            </a:xfrm>
            <a:custGeom>
              <a:avLst/>
              <a:gdLst/>
              <a:ahLst/>
              <a:cxnLst/>
              <a:rect r="r" b="b" t="t" l="l"/>
              <a:pathLst>
                <a:path h="9560560" w="10779760">
                  <a:moveTo>
                    <a:pt x="25400" y="0"/>
                  </a:moveTo>
                  <a:lnTo>
                    <a:pt x="10754360" y="0"/>
                  </a:lnTo>
                  <a:cubicBezTo>
                    <a:pt x="10768330" y="0"/>
                    <a:pt x="10779760" y="11430"/>
                    <a:pt x="10779760" y="25400"/>
                  </a:cubicBezTo>
                  <a:lnTo>
                    <a:pt x="10779760" y="9535160"/>
                  </a:lnTo>
                  <a:cubicBezTo>
                    <a:pt x="10779760" y="9549130"/>
                    <a:pt x="10768330" y="9560560"/>
                    <a:pt x="10754360" y="9560560"/>
                  </a:cubicBezTo>
                  <a:lnTo>
                    <a:pt x="25400" y="9560560"/>
                  </a:lnTo>
                  <a:cubicBezTo>
                    <a:pt x="11430" y="9560560"/>
                    <a:pt x="0" y="9549130"/>
                    <a:pt x="0" y="95351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9535160"/>
                  </a:lnTo>
                  <a:lnTo>
                    <a:pt x="25400" y="9535160"/>
                  </a:lnTo>
                  <a:lnTo>
                    <a:pt x="25400" y="9509760"/>
                  </a:lnTo>
                  <a:lnTo>
                    <a:pt x="10754360" y="9509760"/>
                  </a:lnTo>
                  <a:lnTo>
                    <a:pt x="10754360" y="9535160"/>
                  </a:lnTo>
                  <a:lnTo>
                    <a:pt x="10728960" y="9535160"/>
                  </a:lnTo>
                  <a:lnTo>
                    <a:pt x="10728960" y="25400"/>
                  </a:lnTo>
                  <a:lnTo>
                    <a:pt x="10754360" y="25400"/>
                  </a:lnTo>
                  <a:lnTo>
                    <a:pt x="107543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314183" y="2181863"/>
            <a:ext cx="8072123" cy="939803"/>
            <a:chOff x="0" y="0"/>
            <a:chExt cx="10762831" cy="125307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0728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762742" cy="1252984"/>
            </a:xfrm>
            <a:custGeom>
              <a:avLst/>
              <a:gdLst/>
              <a:ahLst/>
              <a:cxnLst/>
              <a:rect r="r" b="b" t="t" l="l"/>
              <a:pathLst>
                <a:path h="125298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236091"/>
                  </a:lnTo>
                  <a:cubicBezTo>
                    <a:pt x="10762742" y="1245489"/>
                    <a:pt x="10755122" y="1252982"/>
                    <a:pt x="1074585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0745851" y="1219200"/>
                  </a:lnTo>
                  <a:lnTo>
                    <a:pt x="10745851" y="1236091"/>
                  </a:lnTo>
                  <a:lnTo>
                    <a:pt x="10728960" y="123609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509760" y="2194560"/>
            <a:ext cx="7680960" cy="914400"/>
            <a:chOff x="0" y="0"/>
            <a:chExt cx="10241280" cy="1219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241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1024128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📈  ClimateDaily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05623" y="3334007"/>
            <a:ext cx="848363" cy="537467"/>
            <a:chOff x="0" y="0"/>
            <a:chExt cx="1131151" cy="71662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31062" cy="716536"/>
            </a:xfrm>
            <a:custGeom>
              <a:avLst/>
              <a:gdLst/>
              <a:ahLst/>
              <a:cxnLst/>
              <a:rect r="r" b="b" t="t" l="l"/>
              <a:pathLst>
                <a:path h="71653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699643"/>
                  </a:lnTo>
                  <a:cubicBezTo>
                    <a:pt x="1131062" y="709041"/>
                    <a:pt x="1123442" y="716534"/>
                    <a:pt x="111417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14171" y="682752"/>
                  </a:lnTo>
                  <a:lnTo>
                    <a:pt x="1114171" y="699643"/>
                  </a:lnTo>
                  <a:lnTo>
                    <a:pt x="1097280" y="69964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418320" y="3346704"/>
            <a:ext cx="822960" cy="512064"/>
            <a:chOff x="0" y="0"/>
            <a:chExt cx="109728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109728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PK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332720" y="3291840"/>
            <a:ext cx="3657600" cy="640080"/>
            <a:chOff x="0" y="0"/>
            <a:chExt cx="487680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wilaya_annee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4081760" y="3291840"/>
            <a:ext cx="3108960" cy="640080"/>
            <a:chOff x="0" y="0"/>
            <a:chExt cx="4145280" cy="8534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ex: Dakar#2026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405623" y="4010663"/>
            <a:ext cx="848363" cy="537467"/>
            <a:chOff x="0" y="0"/>
            <a:chExt cx="1131151" cy="71662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131062" cy="716536"/>
            </a:xfrm>
            <a:custGeom>
              <a:avLst/>
              <a:gdLst/>
              <a:ahLst/>
              <a:cxnLst/>
              <a:rect r="r" b="b" t="t" l="l"/>
              <a:pathLst>
                <a:path h="716536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699643"/>
                  </a:lnTo>
                  <a:cubicBezTo>
                    <a:pt x="1131062" y="709041"/>
                    <a:pt x="1123442" y="716534"/>
                    <a:pt x="111417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14171" y="682752"/>
                  </a:lnTo>
                  <a:lnTo>
                    <a:pt x="1114171" y="699643"/>
                  </a:lnTo>
                  <a:lnTo>
                    <a:pt x="1097280" y="699643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418320" y="4023360"/>
            <a:ext cx="822960" cy="512064"/>
            <a:chOff x="0" y="0"/>
            <a:chExt cx="1097280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97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1097280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332720" y="3968496"/>
            <a:ext cx="3657600" cy="640080"/>
            <a:chOff x="0" y="0"/>
            <a:chExt cx="4876800" cy="8534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date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4081760" y="3968496"/>
            <a:ext cx="3108960" cy="640080"/>
            <a:chOff x="0" y="0"/>
            <a:chExt cx="4145280" cy="85344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ex: 2026-03-28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332720" y="4645152"/>
            <a:ext cx="3657600" cy="640080"/>
            <a:chOff x="0" y="0"/>
            <a:chExt cx="4876800" cy="8534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temp_min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4081760" y="4645152"/>
            <a:ext cx="3108960" cy="640080"/>
            <a:chOff x="0" y="0"/>
            <a:chExt cx="4145280" cy="8534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24.1°C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332720" y="5321808"/>
            <a:ext cx="3657600" cy="640080"/>
            <a:chOff x="0" y="0"/>
            <a:chExt cx="4876800" cy="8534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temp_max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4081760" y="5321808"/>
            <a:ext cx="3108960" cy="640080"/>
            <a:chOff x="0" y="0"/>
            <a:chExt cx="4145280" cy="8534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33.7°C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332720" y="5998464"/>
            <a:ext cx="3657600" cy="640080"/>
            <a:chOff x="0" y="0"/>
            <a:chExt cx="4876800" cy="8534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temp_moyenne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4081760" y="5998464"/>
            <a:ext cx="3108960" cy="640080"/>
            <a:chOff x="0" y="0"/>
            <a:chExt cx="4145280" cy="8534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28.4°C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332720" y="6675120"/>
            <a:ext cx="3657600" cy="640080"/>
            <a:chOff x="0" y="0"/>
            <a:chExt cx="4876800" cy="853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pluie_totale_mm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4081760" y="6675120"/>
            <a:ext cx="3108960" cy="640080"/>
            <a:chOff x="0" y="0"/>
            <a:chExt cx="4145280" cy="853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2.5mm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0332720" y="7351776"/>
            <a:ext cx="3657600" cy="640080"/>
            <a:chOff x="0" y="0"/>
            <a:chExt cx="4876800" cy="853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vent_moyen_kmh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4081760" y="7351776"/>
            <a:ext cx="3108960" cy="640080"/>
            <a:chOff x="0" y="0"/>
            <a:chExt cx="4145280" cy="853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15.2km/h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0332720" y="8028432"/>
            <a:ext cx="3657600" cy="640080"/>
            <a:chOff x="0" y="0"/>
            <a:chExt cx="4876800" cy="853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nb_mesures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4081760" y="8028432"/>
            <a:ext cx="3108960" cy="640080"/>
            <a:chOff x="0" y="0"/>
            <a:chExt cx="4145280" cy="853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mesures/jour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8631936" y="5120640"/>
            <a:ext cx="731520" cy="731520"/>
            <a:chOff x="0" y="0"/>
            <a:chExt cx="975360" cy="97536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76200"/>
              <a:ext cx="97536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8503920" y="5852160"/>
            <a:ext cx="1097280" cy="548640"/>
            <a:chOff x="0" y="0"/>
            <a:chExt cx="1463040" cy="73152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28575"/>
              <a:ext cx="14630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agrégats</a:t>
              </a:r>
            </a:p>
          </p:txBody>
        </p:sp>
      </p:grpSp>
    </p:spTree>
  </p:cSld>
  <p:clrMapOvr>
    <a:masterClrMapping/>
  </p:clrMapOvr>
  <p:transition spd="fast">
    <p:cover dir="r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C3A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A2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Les 3 fonctions Lambda Python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4960" y="0"/>
            <a:ext cx="1280160" cy="2011680"/>
            <a:chOff x="0" y="0"/>
            <a:chExt cx="170688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1619" t="0" r="-15161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>
                  <a:solidFill>
                    <a:srgbClr val="3D9B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2273303"/>
            <a:ext cx="5511803" cy="7340603"/>
            <a:chOff x="0" y="0"/>
            <a:chExt cx="7349071" cy="9787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9787382"/>
            </a:xfrm>
            <a:custGeom>
              <a:avLst/>
              <a:gdLst/>
              <a:ahLst/>
              <a:cxnLst/>
              <a:rect r="r" b="b" t="t" l="l"/>
              <a:pathLst>
                <a:path h="97873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770491"/>
                  </a:lnTo>
                  <a:cubicBezTo>
                    <a:pt x="7348982" y="9779889"/>
                    <a:pt x="7341362" y="9787382"/>
                    <a:pt x="7332091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7332091" y="9753600"/>
                  </a:lnTo>
                  <a:lnTo>
                    <a:pt x="7332091" y="9770491"/>
                  </a:lnTo>
                  <a:lnTo>
                    <a:pt x="7315200" y="97704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4503" y="2273303"/>
            <a:ext cx="5511803" cy="1397003"/>
            <a:chOff x="0" y="0"/>
            <a:chExt cx="7349071" cy="18626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315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E5FA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89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45691"/>
                  </a:lnTo>
                  <a:cubicBezTo>
                    <a:pt x="7348982" y="1855089"/>
                    <a:pt x="7341362" y="1862582"/>
                    <a:pt x="733209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7332091" y="1828800"/>
                  </a:lnTo>
                  <a:lnTo>
                    <a:pt x="7332091" y="1845691"/>
                  </a:lnTo>
                  <a:lnTo>
                    <a:pt x="7315200" y="1845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5FA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2286000"/>
            <a:ext cx="5120640" cy="1371600"/>
            <a:chOff x="0" y="0"/>
            <a:chExt cx="6827520" cy="182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82752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📡  Lambda-Collecte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7383" y="3791207"/>
            <a:ext cx="5146043" cy="610619"/>
            <a:chOff x="0" y="0"/>
            <a:chExt cx="6861391" cy="8141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61301" cy="814072"/>
            </a:xfrm>
            <a:custGeom>
              <a:avLst/>
              <a:gdLst/>
              <a:ahLst/>
              <a:cxnLst/>
              <a:rect r="r" b="b" t="t" l="l"/>
              <a:pathLst>
                <a:path h="81407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797179"/>
                  </a:lnTo>
                  <a:cubicBezTo>
                    <a:pt x="6861301" y="806577"/>
                    <a:pt x="6853682" y="814070"/>
                    <a:pt x="68444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6844411" y="780288"/>
                  </a:lnTo>
                  <a:lnTo>
                    <a:pt x="6844411" y="797179"/>
                  </a:lnTo>
                  <a:lnTo>
                    <a:pt x="6827520" y="797179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" y="3803904"/>
            <a:ext cx="5120640" cy="585216"/>
            <a:chOff x="0" y="0"/>
            <a:chExt cx="682752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1E5FA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⏰ EventBridge toutes les 3h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520" y="4608576"/>
            <a:ext cx="5029200" cy="640080"/>
            <a:chOff x="0" y="0"/>
            <a:chExt cx="670560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Appelle OpenWeatherMap API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31520" y="5285232"/>
            <a:ext cx="5029200" cy="640080"/>
            <a:chOff x="0" y="0"/>
            <a:chExt cx="670560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Collecte 6 métriques × 8 wilayas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31520" y="5961888"/>
            <a:ext cx="5029200" cy="640080"/>
            <a:chOff x="0" y="0"/>
            <a:chExt cx="670560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Sauvegarde dans DynamoDB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31520" y="6638544"/>
            <a:ext cx="5029200" cy="640080"/>
            <a:chOff x="0" y="0"/>
            <a:chExt cx="67056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Sauvegarde fichier JSON dans S3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31520" y="7315200"/>
            <a:ext cx="5029200" cy="640080"/>
            <a:chOff x="0" y="0"/>
            <a:chExt cx="670560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Publie métrique CloudWatch 8/8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27383" y="8802119"/>
            <a:ext cx="5146043" cy="610619"/>
            <a:chOff x="0" y="0"/>
            <a:chExt cx="6861391" cy="8141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61301" cy="814072"/>
            </a:xfrm>
            <a:custGeom>
              <a:avLst/>
              <a:gdLst/>
              <a:ahLst/>
              <a:cxnLst/>
              <a:rect r="r" b="b" t="t" l="l"/>
              <a:pathLst>
                <a:path h="81407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797179"/>
                  </a:lnTo>
                  <a:cubicBezTo>
                    <a:pt x="6861301" y="806577"/>
                    <a:pt x="6853682" y="814070"/>
                    <a:pt x="68444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6844411" y="780288"/>
                  </a:lnTo>
                  <a:lnTo>
                    <a:pt x="6844411" y="797179"/>
                  </a:lnTo>
                  <a:lnTo>
                    <a:pt x="6827520" y="797179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0080" y="8814816"/>
            <a:ext cx="5120640" cy="585216"/>
            <a:chOff x="0" y="0"/>
            <a:chExt cx="6827520" cy="780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A7A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8/8 wilayas collectées ✓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296663" y="2273303"/>
            <a:ext cx="5511803" cy="7340603"/>
            <a:chOff x="0" y="0"/>
            <a:chExt cx="7349071" cy="97874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73152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48982" cy="9787382"/>
            </a:xfrm>
            <a:custGeom>
              <a:avLst/>
              <a:gdLst/>
              <a:ahLst/>
              <a:cxnLst/>
              <a:rect r="r" b="b" t="t" l="l"/>
              <a:pathLst>
                <a:path h="97873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770491"/>
                  </a:lnTo>
                  <a:cubicBezTo>
                    <a:pt x="7348982" y="9779889"/>
                    <a:pt x="7341362" y="9787382"/>
                    <a:pt x="7332091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7332091" y="9753600"/>
                  </a:lnTo>
                  <a:lnTo>
                    <a:pt x="7332091" y="9770491"/>
                  </a:lnTo>
                  <a:lnTo>
                    <a:pt x="7315200" y="97704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296663" y="2273303"/>
            <a:ext cx="5511803" cy="1397003"/>
            <a:chOff x="0" y="0"/>
            <a:chExt cx="7349071" cy="18626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315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D47C2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489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45691"/>
                  </a:lnTo>
                  <a:cubicBezTo>
                    <a:pt x="7348982" y="1855089"/>
                    <a:pt x="7341362" y="1862582"/>
                    <a:pt x="733209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7332091" y="1828800"/>
                  </a:lnTo>
                  <a:lnTo>
                    <a:pt x="7332091" y="1845691"/>
                  </a:lnTo>
                  <a:lnTo>
                    <a:pt x="7315200" y="1845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7C2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492240" y="2286000"/>
            <a:ext cx="5120640" cy="1371600"/>
            <a:chOff x="0" y="0"/>
            <a:chExt cx="6827520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27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682752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⚙️  Lambda-Traitement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479543" y="3791207"/>
            <a:ext cx="5146043" cy="610619"/>
            <a:chOff x="0" y="0"/>
            <a:chExt cx="6861391" cy="8141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61301" cy="814072"/>
            </a:xfrm>
            <a:custGeom>
              <a:avLst/>
              <a:gdLst/>
              <a:ahLst/>
              <a:cxnLst/>
              <a:rect r="r" b="b" t="t" l="l"/>
              <a:pathLst>
                <a:path h="81407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797179"/>
                  </a:lnTo>
                  <a:cubicBezTo>
                    <a:pt x="6861301" y="806577"/>
                    <a:pt x="6853682" y="814070"/>
                    <a:pt x="68444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6844411" y="780288"/>
                  </a:lnTo>
                  <a:lnTo>
                    <a:pt x="6844411" y="797179"/>
                  </a:lnTo>
                  <a:lnTo>
                    <a:pt x="6827520" y="797179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492240" y="3803904"/>
            <a:ext cx="5120640" cy="585216"/>
            <a:chOff x="0" y="0"/>
            <a:chExt cx="6827520" cy="7802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D47C2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⏰ 1 fois par jour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583680" y="4608576"/>
            <a:ext cx="5029200" cy="640080"/>
            <a:chOff x="0" y="0"/>
            <a:chExt cx="670560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Lit toutes les mesures du jour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583680" y="5285232"/>
            <a:ext cx="5029200" cy="640080"/>
            <a:chOff x="0" y="0"/>
            <a:chExt cx="670560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Calcule min/max/moyenne temp.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583680" y="5961888"/>
            <a:ext cx="5029200" cy="640080"/>
            <a:chOff x="0" y="0"/>
            <a:chExt cx="670560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Calcule total précipitations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583680" y="6638544"/>
            <a:ext cx="5029200" cy="640080"/>
            <a:chOff x="0" y="0"/>
            <a:chExt cx="670560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Calcule vent moyen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583680" y="7315200"/>
            <a:ext cx="5029200" cy="640080"/>
            <a:chOff x="0" y="0"/>
            <a:chExt cx="670560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Écrit dans ClimateDaily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479543" y="8802119"/>
            <a:ext cx="5146043" cy="610619"/>
            <a:chOff x="0" y="0"/>
            <a:chExt cx="6861391" cy="81415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861301" cy="814072"/>
            </a:xfrm>
            <a:custGeom>
              <a:avLst/>
              <a:gdLst/>
              <a:ahLst/>
              <a:cxnLst/>
              <a:rect r="r" b="b" t="t" l="l"/>
              <a:pathLst>
                <a:path h="81407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797179"/>
                  </a:lnTo>
                  <a:cubicBezTo>
                    <a:pt x="6861301" y="806577"/>
                    <a:pt x="6853682" y="814070"/>
                    <a:pt x="68444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6844411" y="780288"/>
                  </a:lnTo>
                  <a:lnTo>
                    <a:pt x="6844411" y="797179"/>
                  </a:lnTo>
                  <a:lnTo>
                    <a:pt x="6827520" y="797179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92240" y="8814816"/>
            <a:ext cx="5120640" cy="585216"/>
            <a:chOff x="0" y="0"/>
            <a:chExt cx="6827520" cy="7802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A7A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Agrégats quotidiens prêts ✓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148823" y="2273303"/>
            <a:ext cx="5511803" cy="7340603"/>
            <a:chOff x="0" y="0"/>
            <a:chExt cx="7349071" cy="978747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73152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348982" cy="9787382"/>
            </a:xfrm>
            <a:custGeom>
              <a:avLst/>
              <a:gdLst/>
              <a:ahLst/>
              <a:cxnLst/>
              <a:rect r="r" b="b" t="t" l="l"/>
              <a:pathLst>
                <a:path h="97873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770491"/>
                  </a:lnTo>
                  <a:cubicBezTo>
                    <a:pt x="7348982" y="9779889"/>
                    <a:pt x="7341362" y="9787382"/>
                    <a:pt x="7332091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7332091" y="9753600"/>
                  </a:lnTo>
                  <a:lnTo>
                    <a:pt x="7332091" y="9770491"/>
                  </a:lnTo>
                  <a:lnTo>
                    <a:pt x="7315200" y="97704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148823" y="2273303"/>
            <a:ext cx="5511803" cy="1397003"/>
            <a:chOff x="0" y="0"/>
            <a:chExt cx="7349071" cy="186267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7315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3489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845691"/>
                  </a:lnTo>
                  <a:cubicBezTo>
                    <a:pt x="7348982" y="1855089"/>
                    <a:pt x="7341362" y="1862582"/>
                    <a:pt x="733209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7332091" y="1828800"/>
                  </a:lnTo>
                  <a:lnTo>
                    <a:pt x="7332091" y="1845691"/>
                  </a:lnTo>
                  <a:lnTo>
                    <a:pt x="7315200" y="1845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344400" y="2286000"/>
            <a:ext cx="5120640" cy="1371600"/>
            <a:chOff x="0" y="0"/>
            <a:chExt cx="6827520" cy="1828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827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44" r="0" b="-2274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682752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🖥️  Lambda-Dashboard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331703" y="3791207"/>
            <a:ext cx="5146043" cy="610619"/>
            <a:chOff x="0" y="0"/>
            <a:chExt cx="6861391" cy="81415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861301" cy="814072"/>
            </a:xfrm>
            <a:custGeom>
              <a:avLst/>
              <a:gdLst/>
              <a:ahLst/>
              <a:cxnLst/>
              <a:rect r="r" b="b" t="t" l="l"/>
              <a:pathLst>
                <a:path h="81407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797179"/>
                  </a:lnTo>
                  <a:cubicBezTo>
                    <a:pt x="6861301" y="806577"/>
                    <a:pt x="6853682" y="814070"/>
                    <a:pt x="68444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6844411" y="780288"/>
                  </a:lnTo>
                  <a:lnTo>
                    <a:pt x="6844411" y="797179"/>
                  </a:lnTo>
                  <a:lnTo>
                    <a:pt x="6827520" y="797179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344400" y="3803904"/>
            <a:ext cx="5120640" cy="585216"/>
            <a:chOff x="0" y="0"/>
            <a:chExt cx="6827520" cy="78028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2A7A4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⏰ Après Lambda-Collecte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435840" y="4608576"/>
            <a:ext cx="5029200" cy="640080"/>
            <a:chOff x="0" y="0"/>
            <a:chExt cx="6705600" cy="8534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Lit ClimateDaily (7 derniers jours)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435840" y="5285232"/>
            <a:ext cx="5029200" cy="640080"/>
            <a:chOff x="0" y="0"/>
            <a:chExt cx="670560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Génère HTML + Chart.js complet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435840" y="5961888"/>
            <a:ext cx="5029200" cy="640080"/>
            <a:chOff x="0" y="0"/>
            <a:chExt cx="6705600" cy="8534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Alertes visuelles automatiques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435840" y="6638544"/>
            <a:ext cx="5029200" cy="640080"/>
            <a:chOff x="0" y="0"/>
            <a:chExt cx="6705600" cy="8534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Bouton Export CSV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435840" y="7315200"/>
            <a:ext cx="5029200" cy="640080"/>
            <a:chOff x="0" y="0"/>
            <a:chExt cx="6705600" cy="8534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70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70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Uploade vers S3 → CloudFront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331703" y="8802119"/>
            <a:ext cx="5146043" cy="610619"/>
            <a:chOff x="0" y="0"/>
            <a:chExt cx="6861391" cy="81415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861301" cy="814072"/>
            </a:xfrm>
            <a:custGeom>
              <a:avLst/>
              <a:gdLst/>
              <a:ahLst/>
              <a:cxnLst/>
              <a:rect r="r" b="b" t="t" l="l"/>
              <a:pathLst>
                <a:path h="81407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797179"/>
                  </a:lnTo>
                  <a:cubicBezTo>
                    <a:pt x="6861301" y="806577"/>
                    <a:pt x="6853682" y="814070"/>
                    <a:pt x="68444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6844411" y="780288"/>
                  </a:lnTo>
                  <a:lnTo>
                    <a:pt x="6844411" y="797179"/>
                  </a:lnTo>
                  <a:lnTo>
                    <a:pt x="6827520" y="797179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344400" y="8814816"/>
            <a:ext cx="5120640" cy="585216"/>
            <a:chOff x="0" y="0"/>
            <a:chExt cx="6827520" cy="78028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68275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A7A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Dashboard mis à jour ✓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B832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32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🔐  Sécurité AWS — IAM &amp; Principe du moindre privilège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4960" y="0"/>
            <a:ext cx="1280160" cy="2011680"/>
            <a:chOff x="0" y="0"/>
            <a:chExt cx="170688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1619" t="0" r="-15161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>
                  <a:solidFill>
                    <a:srgbClr val="F0B8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181863"/>
            <a:ext cx="17216123" cy="1214123"/>
            <a:chOff x="0" y="0"/>
            <a:chExt cx="22954831" cy="16188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920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DEAE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743" cy="1618742"/>
            </a:xfrm>
            <a:custGeom>
              <a:avLst/>
              <a:gdLst/>
              <a:ahLst/>
              <a:cxnLst/>
              <a:rect r="r" b="b" t="t" l="l"/>
              <a:pathLst>
                <a:path h="161874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601851"/>
                  </a:lnTo>
                  <a:cubicBezTo>
                    <a:pt x="22954743" y="1611249"/>
                    <a:pt x="22947123" y="1618742"/>
                    <a:pt x="2293785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2937851" y="1584960"/>
                  </a:lnTo>
                  <a:lnTo>
                    <a:pt x="22937851" y="1601851"/>
                  </a:lnTo>
                  <a:lnTo>
                    <a:pt x="22920961" y="160185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B8B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231136"/>
            <a:ext cx="16459200" cy="1097280"/>
            <a:chOff x="0" y="0"/>
            <a:chExt cx="2194560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9456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832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💡  Principe du moindre privilège : chaque service n'accède QUE à ce dont il a besoin. Si Lambda est piratée, l'attaquant ne peut pas toucher au reste d'AWS.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3657600"/>
            <a:ext cx="10972800" cy="731520"/>
            <a:chOff x="0" y="0"/>
            <a:chExt cx="1463040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46304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Rôle IAM : p04-lambda-role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35943" y="4467863"/>
            <a:ext cx="3317243" cy="720347"/>
            <a:chOff x="0" y="0"/>
            <a:chExt cx="4422991" cy="9604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B1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22902" cy="960376"/>
            </a:xfrm>
            <a:custGeom>
              <a:avLst/>
              <a:gdLst/>
              <a:ahLst/>
              <a:cxnLst/>
              <a:rect r="r" b="b" t="t" l="l"/>
              <a:pathLst>
                <a:path h="960376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943483"/>
                  </a:lnTo>
                  <a:cubicBezTo>
                    <a:pt x="4422902" y="952881"/>
                    <a:pt x="4415282" y="960374"/>
                    <a:pt x="44060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406011" y="926592"/>
                  </a:lnTo>
                  <a:lnTo>
                    <a:pt x="4406011" y="943483"/>
                  </a:lnTo>
                  <a:lnTo>
                    <a:pt x="4389120" y="943483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1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" y="4480560"/>
            <a:ext cx="3108960" cy="694944"/>
            <a:chOff x="0" y="0"/>
            <a:chExt cx="414528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45280" cy="926592"/>
            </a:xfrm>
            <a:custGeom>
              <a:avLst/>
              <a:gdLst/>
              <a:ahLst/>
              <a:cxnLst/>
              <a:rect r="r" b="b" t="t" l="l"/>
              <a:pathLst>
                <a:path h="92659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169" r="0" b="-3716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1452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827783" y="4467863"/>
            <a:ext cx="5511803" cy="720347"/>
            <a:chOff x="0" y="0"/>
            <a:chExt cx="7349071" cy="9604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315200" cy="926592"/>
            </a:xfrm>
            <a:custGeom>
              <a:avLst/>
              <a:gdLst/>
              <a:ahLst/>
              <a:cxnLst/>
              <a:rect r="r" b="b" t="t" l="l"/>
              <a:pathLst>
                <a:path h="926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B1A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8982" cy="960376"/>
            </a:xfrm>
            <a:custGeom>
              <a:avLst/>
              <a:gdLst/>
              <a:ahLst/>
              <a:cxnLst/>
              <a:rect r="r" b="b" t="t" l="l"/>
              <a:pathLst>
                <a:path h="960376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43483"/>
                  </a:lnTo>
                  <a:cubicBezTo>
                    <a:pt x="7348982" y="952881"/>
                    <a:pt x="7341362" y="960374"/>
                    <a:pt x="73320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332091" y="926592"/>
                  </a:lnTo>
                  <a:lnTo>
                    <a:pt x="7332091" y="943483"/>
                  </a:lnTo>
                  <a:lnTo>
                    <a:pt x="7315200" y="943483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1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931920" y="4480560"/>
            <a:ext cx="5303520" cy="694944"/>
            <a:chOff x="0" y="0"/>
            <a:chExt cx="707136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71360" cy="926592"/>
            </a:xfrm>
            <a:custGeom>
              <a:avLst/>
              <a:gdLst/>
              <a:ahLst/>
              <a:cxnLst/>
              <a:rect r="r" b="b" t="t" l="l"/>
              <a:pathLst>
                <a:path h="926592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01" r="0" b="-98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071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Permissions accordées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14183" y="4467863"/>
            <a:ext cx="5877563" cy="720347"/>
            <a:chOff x="0" y="0"/>
            <a:chExt cx="7836751" cy="9604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802881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1">
                  <a:moveTo>
                    <a:pt x="0" y="0"/>
                  </a:moveTo>
                  <a:lnTo>
                    <a:pt x="7802881" y="0"/>
                  </a:lnTo>
                  <a:lnTo>
                    <a:pt x="7802881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B1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836662" cy="960376"/>
            </a:xfrm>
            <a:custGeom>
              <a:avLst/>
              <a:gdLst/>
              <a:ahLst/>
              <a:cxnLst/>
              <a:rect r="r" b="b" t="t" l="l"/>
              <a:pathLst>
                <a:path h="960376" w="7836662">
                  <a:moveTo>
                    <a:pt x="16891" y="0"/>
                  </a:moveTo>
                  <a:lnTo>
                    <a:pt x="7819772" y="0"/>
                  </a:lnTo>
                  <a:cubicBezTo>
                    <a:pt x="7829169" y="0"/>
                    <a:pt x="7836662" y="7620"/>
                    <a:pt x="7836662" y="16891"/>
                  </a:cubicBezTo>
                  <a:lnTo>
                    <a:pt x="7836662" y="943483"/>
                  </a:lnTo>
                  <a:cubicBezTo>
                    <a:pt x="7836662" y="952881"/>
                    <a:pt x="7829042" y="960374"/>
                    <a:pt x="7819772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7819772" y="926592"/>
                  </a:lnTo>
                  <a:lnTo>
                    <a:pt x="7819772" y="943483"/>
                  </a:lnTo>
                  <a:lnTo>
                    <a:pt x="7802880" y="943483"/>
                  </a:lnTo>
                  <a:lnTo>
                    <a:pt x="7802880" y="16891"/>
                  </a:lnTo>
                  <a:lnTo>
                    <a:pt x="7819772" y="16891"/>
                  </a:lnTo>
                  <a:lnTo>
                    <a:pt x="7819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1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418320" y="4480560"/>
            <a:ext cx="5669280" cy="694944"/>
            <a:chOff x="0" y="0"/>
            <a:chExt cx="755904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59040" cy="926592"/>
            </a:xfrm>
            <a:custGeom>
              <a:avLst/>
              <a:gdLst/>
              <a:ahLst/>
              <a:cxnLst/>
              <a:rect r="r" b="b" t="t" l="l"/>
              <a:pathLst>
                <a:path h="92659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956" r="0" b="-10895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5590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Justification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166343" y="4467863"/>
            <a:ext cx="1488443" cy="720347"/>
            <a:chOff x="0" y="0"/>
            <a:chExt cx="1984591" cy="9604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95072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C2B1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84502" cy="960376"/>
            </a:xfrm>
            <a:custGeom>
              <a:avLst/>
              <a:gdLst/>
              <a:ahLst/>
              <a:cxnLst/>
              <a:rect r="r" b="b" t="t" l="l"/>
              <a:pathLst>
                <a:path h="960376" w="1984502">
                  <a:moveTo>
                    <a:pt x="16891" y="0"/>
                  </a:moveTo>
                  <a:lnTo>
                    <a:pt x="1967611" y="0"/>
                  </a:lnTo>
                  <a:cubicBezTo>
                    <a:pt x="1977009" y="0"/>
                    <a:pt x="1984502" y="7620"/>
                    <a:pt x="1984502" y="16891"/>
                  </a:cubicBezTo>
                  <a:lnTo>
                    <a:pt x="1984502" y="943483"/>
                  </a:lnTo>
                  <a:cubicBezTo>
                    <a:pt x="1984502" y="952881"/>
                    <a:pt x="1976882" y="960374"/>
                    <a:pt x="19676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967611" y="926592"/>
                  </a:lnTo>
                  <a:lnTo>
                    <a:pt x="1967611" y="943483"/>
                  </a:lnTo>
                  <a:lnTo>
                    <a:pt x="1950720" y="943483"/>
                  </a:lnTo>
                  <a:lnTo>
                    <a:pt x="1950720" y="16891"/>
                  </a:lnTo>
                  <a:lnTo>
                    <a:pt x="1967611" y="16891"/>
                  </a:lnTo>
                  <a:lnTo>
                    <a:pt x="1967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1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270480" y="4480560"/>
            <a:ext cx="1280160" cy="694944"/>
            <a:chOff x="0" y="0"/>
            <a:chExt cx="170688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650" t="0" r="-1965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706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Accès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42287" y="5169151"/>
            <a:ext cx="3304537" cy="744217"/>
            <a:chOff x="0" y="0"/>
            <a:chExt cx="4406049" cy="99228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406138" cy="992378"/>
            </a:xfrm>
            <a:custGeom>
              <a:avLst/>
              <a:gdLst/>
              <a:ahLst/>
              <a:cxnLst/>
              <a:rect r="r" b="b" t="t" l="l"/>
              <a:pathLst>
                <a:path h="992378" w="4406138">
                  <a:moveTo>
                    <a:pt x="8509" y="0"/>
                  </a:moveTo>
                  <a:lnTo>
                    <a:pt x="4397629" y="0"/>
                  </a:lnTo>
                  <a:cubicBezTo>
                    <a:pt x="4402328" y="0"/>
                    <a:pt x="4406138" y="3810"/>
                    <a:pt x="4406138" y="8509"/>
                  </a:cubicBezTo>
                  <a:lnTo>
                    <a:pt x="4406138" y="983869"/>
                  </a:lnTo>
                  <a:cubicBezTo>
                    <a:pt x="4406138" y="988568"/>
                    <a:pt x="4402328" y="992378"/>
                    <a:pt x="439762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4397629" y="975360"/>
                  </a:lnTo>
                  <a:lnTo>
                    <a:pt x="4397629" y="983869"/>
                  </a:lnTo>
                  <a:lnTo>
                    <a:pt x="4389120" y="983869"/>
                  </a:lnTo>
                  <a:lnTo>
                    <a:pt x="4389120" y="8509"/>
                  </a:lnTo>
                  <a:lnTo>
                    <a:pt x="4397629" y="8509"/>
                  </a:lnTo>
                  <a:lnTo>
                    <a:pt x="43976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40080" y="5175504"/>
            <a:ext cx="3108960" cy="731520"/>
            <a:chOff x="0" y="0"/>
            <a:chExt cx="414528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1452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DynamoDB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834127" y="5169151"/>
            <a:ext cx="5499097" cy="744217"/>
            <a:chOff x="0" y="0"/>
            <a:chExt cx="7332129" cy="99228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8509" y="8509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32218" cy="992378"/>
            </a:xfrm>
            <a:custGeom>
              <a:avLst/>
              <a:gdLst/>
              <a:ahLst/>
              <a:cxnLst/>
              <a:rect r="r" b="b" t="t" l="l"/>
              <a:pathLst>
                <a:path h="992378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983869"/>
                  </a:lnTo>
                  <a:cubicBezTo>
                    <a:pt x="7332218" y="988568"/>
                    <a:pt x="7328408" y="992378"/>
                    <a:pt x="732370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7323709" y="975360"/>
                  </a:lnTo>
                  <a:lnTo>
                    <a:pt x="7323709" y="983869"/>
                  </a:lnTo>
                  <a:lnTo>
                    <a:pt x="7315200" y="983869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931920" y="5175504"/>
            <a:ext cx="5303520" cy="731520"/>
            <a:chOff x="0" y="0"/>
            <a:chExt cx="707136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70713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PutItem, GetItem, Query, Scan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20527" y="5169151"/>
            <a:ext cx="5864857" cy="744217"/>
            <a:chOff x="0" y="0"/>
            <a:chExt cx="7819809" cy="99228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8509" y="8509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819899" cy="992378"/>
            </a:xfrm>
            <a:custGeom>
              <a:avLst/>
              <a:gdLst/>
              <a:ahLst/>
              <a:cxnLst/>
              <a:rect r="r" b="b" t="t" l="l"/>
              <a:pathLst>
                <a:path h="992378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983869"/>
                  </a:lnTo>
                  <a:cubicBezTo>
                    <a:pt x="7819899" y="988568"/>
                    <a:pt x="7816088" y="992378"/>
                    <a:pt x="781138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7811389" y="975360"/>
                  </a:lnTo>
                  <a:lnTo>
                    <a:pt x="7811389" y="983869"/>
                  </a:lnTo>
                  <a:lnTo>
                    <a:pt x="7802880" y="983869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418320" y="5175504"/>
            <a:ext cx="5669280" cy="731520"/>
            <a:chOff x="0" y="0"/>
            <a:chExt cx="7559040" cy="975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5590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Lecture/écriture données météo UNIQUEMENT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172687" y="5169151"/>
            <a:ext cx="1475737" cy="744217"/>
            <a:chOff x="0" y="0"/>
            <a:chExt cx="1967649" cy="99228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8509" y="8509"/>
              <a:ext cx="195072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67738" cy="992378"/>
            </a:xfrm>
            <a:custGeom>
              <a:avLst/>
              <a:gdLst/>
              <a:ahLst/>
              <a:cxnLst/>
              <a:rect r="r" b="b" t="t" l="l"/>
              <a:pathLst>
                <a:path h="992378" w="1967738">
                  <a:moveTo>
                    <a:pt x="8509" y="0"/>
                  </a:moveTo>
                  <a:lnTo>
                    <a:pt x="1959229" y="0"/>
                  </a:lnTo>
                  <a:cubicBezTo>
                    <a:pt x="1963928" y="0"/>
                    <a:pt x="1967738" y="3810"/>
                    <a:pt x="1967738" y="8509"/>
                  </a:cubicBezTo>
                  <a:lnTo>
                    <a:pt x="1967738" y="983869"/>
                  </a:lnTo>
                  <a:cubicBezTo>
                    <a:pt x="1967738" y="988568"/>
                    <a:pt x="1963928" y="992378"/>
                    <a:pt x="195922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1959229" y="975360"/>
                  </a:lnTo>
                  <a:lnTo>
                    <a:pt x="1959229" y="983869"/>
                  </a:lnTo>
                  <a:lnTo>
                    <a:pt x="1950720" y="983869"/>
                  </a:lnTo>
                  <a:lnTo>
                    <a:pt x="1950720" y="8509"/>
                  </a:lnTo>
                  <a:lnTo>
                    <a:pt x="1959229" y="8509"/>
                  </a:lnTo>
                  <a:lnTo>
                    <a:pt x="19592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270480" y="5175504"/>
            <a:ext cx="1280160" cy="731520"/>
            <a:chOff x="0" y="0"/>
            <a:chExt cx="1706880" cy="975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7068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A7A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42287" y="5937247"/>
            <a:ext cx="3304537" cy="744217"/>
            <a:chOff x="0" y="0"/>
            <a:chExt cx="4406049" cy="99228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8509" y="8509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406138" cy="992378"/>
            </a:xfrm>
            <a:custGeom>
              <a:avLst/>
              <a:gdLst/>
              <a:ahLst/>
              <a:cxnLst/>
              <a:rect r="r" b="b" t="t" l="l"/>
              <a:pathLst>
                <a:path h="992378" w="4406138">
                  <a:moveTo>
                    <a:pt x="8509" y="0"/>
                  </a:moveTo>
                  <a:lnTo>
                    <a:pt x="4397629" y="0"/>
                  </a:lnTo>
                  <a:cubicBezTo>
                    <a:pt x="4402328" y="0"/>
                    <a:pt x="4406138" y="3810"/>
                    <a:pt x="4406138" y="8509"/>
                  </a:cubicBezTo>
                  <a:lnTo>
                    <a:pt x="4406138" y="983869"/>
                  </a:lnTo>
                  <a:cubicBezTo>
                    <a:pt x="4406138" y="988568"/>
                    <a:pt x="4402328" y="992378"/>
                    <a:pt x="439762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4397629" y="975360"/>
                  </a:lnTo>
                  <a:lnTo>
                    <a:pt x="4397629" y="983869"/>
                  </a:lnTo>
                  <a:lnTo>
                    <a:pt x="4389120" y="983869"/>
                  </a:lnTo>
                  <a:lnTo>
                    <a:pt x="4389120" y="8509"/>
                  </a:lnTo>
                  <a:lnTo>
                    <a:pt x="4397629" y="8509"/>
                  </a:lnTo>
                  <a:lnTo>
                    <a:pt x="43976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40080" y="5943600"/>
            <a:ext cx="3108960" cy="731520"/>
            <a:chOff x="0" y="0"/>
            <a:chExt cx="4145280" cy="975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1452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834127" y="5937247"/>
            <a:ext cx="5499097" cy="744217"/>
            <a:chOff x="0" y="0"/>
            <a:chExt cx="7332129" cy="99228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8509" y="8509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332218" cy="992378"/>
            </a:xfrm>
            <a:custGeom>
              <a:avLst/>
              <a:gdLst/>
              <a:ahLst/>
              <a:cxnLst/>
              <a:rect r="r" b="b" t="t" l="l"/>
              <a:pathLst>
                <a:path h="992378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983869"/>
                  </a:lnTo>
                  <a:cubicBezTo>
                    <a:pt x="7332218" y="988568"/>
                    <a:pt x="7328408" y="992378"/>
                    <a:pt x="732370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7323709" y="975360"/>
                  </a:lnTo>
                  <a:lnTo>
                    <a:pt x="7323709" y="983869"/>
                  </a:lnTo>
                  <a:lnTo>
                    <a:pt x="7315200" y="983869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3931920" y="5943600"/>
            <a:ext cx="5303520" cy="731520"/>
            <a:chOff x="0" y="0"/>
            <a:chExt cx="7071360" cy="9753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70713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PutObject, GetObject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320527" y="5937247"/>
            <a:ext cx="5864857" cy="744217"/>
            <a:chOff x="0" y="0"/>
            <a:chExt cx="7819809" cy="99228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8509" y="8509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819899" cy="992378"/>
            </a:xfrm>
            <a:custGeom>
              <a:avLst/>
              <a:gdLst/>
              <a:ahLst/>
              <a:cxnLst/>
              <a:rect r="r" b="b" t="t" l="l"/>
              <a:pathLst>
                <a:path h="992378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983869"/>
                  </a:lnTo>
                  <a:cubicBezTo>
                    <a:pt x="7819899" y="988568"/>
                    <a:pt x="7816088" y="992378"/>
                    <a:pt x="781138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7811389" y="975360"/>
                  </a:lnTo>
                  <a:lnTo>
                    <a:pt x="7811389" y="983869"/>
                  </a:lnTo>
                  <a:lnTo>
                    <a:pt x="7802880" y="983869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418320" y="5943600"/>
            <a:ext cx="5669280" cy="731520"/>
            <a:chOff x="0" y="0"/>
            <a:chExt cx="7559040" cy="9753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75590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Accès aux 2 buckets P-04 UNIQUEMENT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5172687" y="5937247"/>
            <a:ext cx="1475737" cy="744217"/>
            <a:chOff x="0" y="0"/>
            <a:chExt cx="1967649" cy="99228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8509" y="8509"/>
              <a:ext cx="195072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967738" cy="992378"/>
            </a:xfrm>
            <a:custGeom>
              <a:avLst/>
              <a:gdLst/>
              <a:ahLst/>
              <a:cxnLst/>
              <a:rect r="r" b="b" t="t" l="l"/>
              <a:pathLst>
                <a:path h="992378" w="1967738">
                  <a:moveTo>
                    <a:pt x="8509" y="0"/>
                  </a:moveTo>
                  <a:lnTo>
                    <a:pt x="1959229" y="0"/>
                  </a:lnTo>
                  <a:cubicBezTo>
                    <a:pt x="1963928" y="0"/>
                    <a:pt x="1967738" y="3810"/>
                    <a:pt x="1967738" y="8509"/>
                  </a:cubicBezTo>
                  <a:lnTo>
                    <a:pt x="1967738" y="983869"/>
                  </a:lnTo>
                  <a:cubicBezTo>
                    <a:pt x="1967738" y="988568"/>
                    <a:pt x="1963928" y="992378"/>
                    <a:pt x="195922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1959229" y="975360"/>
                  </a:lnTo>
                  <a:lnTo>
                    <a:pt x="1959229" y="983869"/>
                  </a:lnTo>
                  <a:lnTo>
                    <a:pt x="1950720" y="983869"/>
                  </a:lnTo>
                  <a:lnTo>
                    <a:pt x="1950720" y="8509"/>
                  </a:lnTo>
                  <a:lnTo>
                    <a:pt x="1959229" y="8509"/>
                  </a:lnTo>
                  <a:lnTo>
                    <a:pt x="19592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5270480" y="5943600"/>
            <a:ext cx="1280160" cy="731520"/>
            <a:chOff x="0" y="0"/>
            <a:chExt cx="1706880" cy="9753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17068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A7A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42287" y="6705343"/>
            <a:ext cx="3304537" cy="744217"/>
            <a:chOff x="0" y="0"/>
            <a:chExt cx="4406049" cy="99228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8509" y="8509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406138" cy="992378"/>
            </a:xfrm>
            <a:custGeom>
              <a:avLst/>
              <a:gdLst/>
              <a:ahLst/>
              <a:cxnLst/>
              <a:rect r="r" b="b" t="t" l="l"/>
              <a:pathLst>
                <a:path h="992378" w="4406138">
                  <a:moveTo>
                    <a:pt x="8509" y="0"/>
                  </a:moveTo>
                  <a:lnTo>
                    <a:pt x="4397629" y="0"/>
                  </a:lnTo>
                  <a:cubicBezTo>
                    <a:pt x="4402328" y="0"/>
                    <a:pt x="4406138" y="3810"/>
                    <a:pt x="4406138" y="8509"/>
                  </a:cubicBezTo>
                  <a:lnTo>
                    <a:pt x="4406138" y="983869"/>
                  </a:lnTo>
                  <a:cubicBezTo>
                    <a:pt x="4406138" y="988568"/>
                    <a:pt x="4402328" y="992378"/>
                    <a:pt x="439762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4397629" y="975360"/>
                  </a:lnTo>
                  <a:lnTo>
                    <a:pt x="4397629" y="983869"/>
                  </a:lnTo>
                  <a:lnTo>
                    <a:pt x="4389120" y="983869"/>
                  </a:lnTo>
                  <a:lnTo>
                    <a:pt x="4389120" y="8509"/>
                  </a:lnTo>
                  <a:lnTo>
                    <a:pt x="4397629" y="8509"/>
                  </a:lnTo>
                  <a:lnTo>
                    <a:pt x="43976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40080" y="6711696"/>
            <a:ext cx="3108960" cy="731520"/>
            <a:chOff x="0" y="0"/>
            <a:chExt cx="4145280" cy="9753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1452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CloudWatch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3834127" y="6705343"/>
            <a:ext cx="5499097" cy="744217"/>
            <a:chOff x="0" y="0"/>
            <a:chExt cx="7332129" cy="99228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8509" y="8509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332218" cy="992378"/>
            </a:xfrm>
            <a:custGeom>
              <a:avLst/>
              <a:gdLst/>
              <a:ahLst/>
              <a:cxnLst/>
              <a:rect r="r" b="b" t="t" l="l"/>
              <a:pathLst>
                <a:path h="992378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983869"/>
                  </a:lnTo>
                  <a:cubicBezTo>
                    <a:pt x="7332218" y="988568"/>
                    <a:pt x="7328408" y="992378"/>
                    <a:pt x="732370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7323709" y="975360"/>
                  </a:lnTo>
                  <a:lnTo>
                    <a:pt x="7323709" y="983869"/>
                  </a:lnTo>
                  <a:lnTo>
                    <a:pt x="7315200" y="983869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3931920" y="6711696"/>
            <a:ext cx="5303520" cy="731520"/>
            <a:chOff x="0" y="0"/>
            <a:chExt cx="7071360" cy="9753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70713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PutMetricData, CreateLogGroup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320527" y="6705343"/>
            <a:ext cx="5864857" cy="744217"/>
            <a:chOff x="0" y="0"/>
            <a:chExt cx="7819809" cy="99228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8509" y="8509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819899" cy="992378"/>
            </a:xfrm>
            <a:custGeom>
              <a:avLst/>
              <a:gdLst/>
              <a:ahLst/>
              <a:cxnLst/>
              <a:rect r="r" b="b" t="t" l="l"/>
              <a:pathLst>
                <a:path h="992378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983869"/>
                  </a:lnTo>
                  <a:cubicBezTo>
                    <a:pt x="7819899" y="988568"/>
                    <a:pt x="7816088" y="992378"/>
                    <a:pt x="781138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7811389" y="975360"/>
                  </a:lnTo>
                  <a:lnTo>
                    <a:pt x="7811389" y="983869"/>
                  </a:lnTo>
                  <a:lnTo>
                    <a:pt x="7802880" y="983869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418320" y="6711696"/>
            <a:ext cx="5669280" cy="731520"/>
            <a:chOff x="0" y="0"/>
            <a:chExt cx="7559040" cy="9753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75590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Logs et métriques personnalisées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5172687" y="6705343"/>
            <a:ext cx="1475737" cy="744217"/>
            <a:chOff x="0" y="0"/>
            <a:chExt cx="1967649" cy="99228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8509" y="8509"/>
              <a:ext cx="195072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7F5F0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967738" cy="992378"/>
            </a:xfrm>
            <a:custGeom>
              <a:avLst/>
              <a:gdLst/>
              <a:ahLst/>
              <a:cxnLst/>
              <a:rect r="r" b="b" t="t" l="l"/>
              <a:pathLst>
                <a:path h="992378" w="1967738">
                  <a:moveTo>
                    <a:pt x="8509" y="0"/>
                  </a:moveTo>
                  <a:lnTo>
                    <a:pt x="1959229" y="0"/>
                  </a:lnTo>
                  <a:cubicBezTo>
                    <a:pt x="1963928" y="0"/>
                    <a:pt x="1967738" y="3810"/>
                    <a:pt x="1967738" y="8509"/>
                  </a:cubicBezTo>
                  <a:lnTo>
                    <a:pt x="1967738" y="983869"/>
                  </a:lnTo>
                  <a:cubicBezTo>
                    <a:pt x="1967738" y="988568"/>
                    <a:pt x="1963928" y="992378"/>
                    <a:pt x="195922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1959229" y="975360"/>
                  </a:lnTo>
                  <a:lnTo>
                    <a:pt x="1959229" y="983869"/>
                  </a:lnTo>
                  <a:lnTo>
                    <a:pt x="1950720" y="983869"/>
                  </a:lnTo>
                  <a:lnTo>
                    <a:pt x="1950720" y="8509"/>
                  </a:lnTo>
                  <a:lnTo>
                    <a:pt x="1959229" y="8509"/>
                  </a:lnTo>
                  <a:lnTo>
                    <a:pt x="19592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5270480" y="6711696"/>
            <a:ext cx="1280160" cy="731520"/>
            <a:chOff x="0" y="0"/>
            <a:chExt cx="1706880" cy="9753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17068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A7A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542287" y="7473439"/>
            <a:ext cx="3304537" cy="744217"/>
            <a:chOff x="0" y="0"/>
            <a:chExt cx="4406049" cy="992289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8509" y="8509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406138" cy="992378"/>
            </a:xfrm>
            <a:custGeom>
              <a:avLst/>
              <a:gdLst/>
              <a:ahLst/>
              <a:cxnLst/>
              <a:rect r="r" b="b" t="t" l="l"/>
              <a:pathLst>
                <a:path h="992378" w="4406138">
                  <a:moveTo>
                    <a:pt x="8509" y="0"/>
                  </a:moveTo>
                  <a:lnTo>
                    <a:pt x="4397629" y="0"/>
                  </a:lnTo>
                  <a:cubicBezTo>
                    <a:pt x="4402328" y="0"/>
                    <a:pt x="4406138" y="3810"/>
                    <a:pt x="4406138" y="8509"/>
                  </a:cubicBezTo>
                  <a:lnTo>
                    <a:pt x="4406138" y="983869"/>
                  </a:lnTo>
                  <a:cubicBezTo>
                    <a:pt x="4406138" y="988568"/>
                    <a:pt x="4402328" y="992378"/>
                    <a:pt x="439762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4397629" y="975360"/>
                  </a:lnTo>
                  <a:lnTo>
                    <a:pt x="4397629" y="983869"/>
                  </a:lnTo>
                  <a:lnTo>
                    <a:pt x="4389120" y="983869"/>
                  </a:lnTo>
                  <a:lnTo>
                    <a:pt x="4389120" y="8509"/>
                  </a:lnTo>
                  <a:lnTo>
                    <a:pt x="4397629" y="8509"/>
                  </a:lnTo>
                  <a:lnTo>
                    <a:pt x="43976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640080" y="7479792"/>
            <a:ext cx="3108960" cy="731520"/>
            <a:chOff x="0" y="0"/>
            <a:chExt cx="4145280" cy="9753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41452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Lambda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3834127" y="7473439"/>
            <a:ext cx="5499097" cy="744217"/>
            <a:chOff x="0" y="0"/>
            <a:chExt cx="7332129" cy="99228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8509" y="8509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332218" cy="992378"/>
            </a:xfrm>
            <a:custGeom>
              <a:avLst/>
              <a:gdLst/>
              <a:ahLst/>
              <a:cxnLst/>
              <a:rect r="r" b="b" t="t" l="l"/>
              <a:pathLst>
                <a:path h="992378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983869"/>
                  </a:lnTo>
                  <a:cubicBezTo>
                    <a:pt x="7332218" y="988568"/>
                    <a:pt x="7328408" y="992378"/>
                    <a:pt x="732370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7323709" y="975360"/>
                  </a:lnTo>
                  <a:lnTo>
                    <a:pt x="7323709" y="983869"/>
                  </a:lnTo>
                  <a:lnTo>
                    <a:pt x="7315200" y="983869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3931920" y="7479792"/>
            <a:ext cx="5303520" cy="731520"/>
            <a:chOff x="0" y="0"/>
            <a:chExt cx="7071360" cy="97536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70713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BasicExecutionRole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320527" y="7473439"/>
            <a:ext cx="5864857" cy="744217"/>
            <a:chOff x="0" y="0"/>
            <a:chExt cx="7819809" cy="99228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8509" y="8509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819899" cy="992378"/>
            </a:xfrm>
            <a:custGeom>
              <a:avLst/>
              <a:gdLst/>
              <a:ahLst/>
              <a:cxnLst/>
              <a:rect r="r" b="b" t="t" l="l"/>
              <a:pathLst>
                <a:path h="992378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983869"/>
                  </a:lnTo>
                  <a:cubicBezTo>
                    <a:pt x="7819899" y="988568"/>
                    <a:pt x="7816088" y="992378"/>
                    <a:pt x="781138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7811389" y="975360"/>
                  </a:lnTo>
                  <a:lnTo>
                    <a:pt x="7811389" y="983869"/>
                  </a:lnTo>
                  <a:lnTo>
                    <a:pt x="7802880" y="983869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9418320" y="7479792"/>
            <a:ext cx="5669280" cy="731520"/>
            <a:chOff x="0" y="0"/>
            <a:chExt cx="7559040" cy="97536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75590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C2B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Exécution de base de la fonction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5172687" y="7473439"/>
            <a:ext cx="1475737" cy="744217"/>
            <a:chOff x="0" y="0"/>
            <a:chExt cx="1967649" cy="99228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8509" y="8509"/>
              <a:ext cx="195072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967738" cy="992378"/>
            </a:xfrm>
            <a:custGeom>
              <a:avLst/>
              <a:gdLst/>
              <a:ahLst/>
              <a:cxnLst/>
              <a:rect r="r" b="b" t="t" l="l"/>
              <a:pathLst>
                <a:path h="992378" w="1967738">
                  <a:moveTo>
                    <a:pt x="8509" y="0"/>
                  </a:moveTo>
                  <a:lnTo>
                    <a:pt x="1959229" y="0"/>
                  </a:lnTo>
                  <a:cubicBezTo>
                    <a:pt x="1963928" y="0"/>
                    <a:pt x="1967738" y="3810"/>
                    <a:pt x="1967738" y="8509"/>
                  </a:cubicBezTo>
                  <a:lnTo>
                    <a:pt x="1967738" y="983869"/>
                  </a:lnTo>
                  <a:cubicBezTo>
                    <a:pt x="1967738" y="988568"/>
                    <a:pt x="1963928" y="992378"/>
                    <a:pt x="195922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1959229" y="975360"/>
                  </a:lnTo>
                  <a:lnTo>
                    <a:pt x="1959229" y="983869"/>
                  </a:lnTo>
                  <a:lnTo>
                    <a:pt x="1950720" y="983869"/>
                  </a:lnTo>
                  <a:lnTo>
                    <a:pt x="1950720" y="8509"/>
                  </a:lnTo>
                  <a:lnTo>
                    <a:pt x="1959229" y="8509"/>
                  </a:lnTo>
                  <a:lnTo>
                    <a:pt x="19592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5270480" y="7479792"/>
            <a:ext cx="1280160" cy="731520"/>
            <a:chOff x="0" y="0"/>
            <a:chExt cx="1706880" cy="97536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17068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A7A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542287" y="8241535"/>
            <a:ext cx="3304537" cy="744217"/>
            <a:chOff x="0" y="0"/>
            <a:chExt cx="4406049" cy="992289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8509" y="8509"/>
              <a:ext cx="4389120" cy="975360"/>
            </a:xfrm>
            <a:custGeom>
              <a:avLst/>
              <a:gdLst/>
              <a:ahLst/>
              <a:cxnLst/>
              <a:rect r="r" b="b" t="t" l="l"/>
              <a:pathLst>
                <a:path h="975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DEAEA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4406138" cy="992378"/>
            </a:xfrm>
            <a:custGeom>
              <a:avLst/>
              <a:gdLst/>
              <a:ahLst/>
              <a:cxnLst/>
              <a:rect r="r" b="b" t="t" l="l"/>
              <a:pathLst>
                <a:path h="992378" w="4406138">
                  <a:moveTo>
                    <a:pt x="8509" y="0"/>
                  </a:moveTo>
                  <a:lnTo>
                    <a:pt x="4397629" y="0"/>
                  </a:lnTo>
                  <a:cubicBezTo>
                    <a:pt x="4402328" y="0"/>
                    <a:pt x="4406138" y="3810"/>
                    <a:pt x="4406138" y="8509"/>
                  </a:cubicBezTo>
                  <a:lnTo>
                    <a:pt x="4406138" y="983869"/>
                  </a:lnTo>
                  <a:cubicBezTo>
                    <a:pt x="4406138" y="988568"/>
                    <a:pt x="4402328" y="992378"/>
                    <a:pt x="439762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4397629" y="975360"/>
                  </a:lnTo>
                  <a:lnTo>
                    <a:pt x="4397629" y="983869"/>
                  </a:lnTo>
                  <a:lnTo>
                    <a:pt x="4389120" y="983869"/>
                  </a:lnTo>
                  <a:lnTo>
                    <a:pt x="4389120" y="8509"/>
                  </a:lnTo>
                  <a:lnTo>
                    <a:pt x="4397629" y="8509"/>
                  </a:lnTo>
                  <a:lnTo>
                    <a:pt x="43976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640080" y="8247888"/>
            <a:ext cx="3108960" cy="731520"/>
            <a:chOff x="0" y="0"/>
            <a:chExt cx="4145280" cy="97536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41452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B832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EC2, RDS, IAM Admin...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3834127" y="8241535"/>
            <a:ext cx="5499097" cy="744217"/>
            <a:chOff x="0" y="0"/>
            <a:chExt cx="7332129" cy="992289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8509" y="8509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DEAEA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7332218" cy="992378"/>
            </a:xfrm>
            <a:custGeom>
              <a:avLst/>
              <a:gdLst/>
              <a:ahLst/>
              <a:cxnLst/>
              <a:rect r="r" b="b" t="t" l="l"/>
              <a:pathLst>
                <a:path h="992378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983869"/>
                  </a:lnTo>
                  <a:cubicBezTo>
                    <a:pt x="7332218" y="988568"/>
                    <a:pt x="7328408" y="992378"/>
                    <a:pt x="732370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7323709" y="975360"/>
                  </a:lnTo>
                  <a:lnTo>
                    <a:pt x="7323709" y="983869"/>
                  </a:lnTo>
                  <a:lnTo>
                    <a:pt x="7315200" y="983869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3931920" y="8247888"/>
            <a:ext cx="5303520" cy="731520"/>
            <a:chOff x="0" y="0"/>
            <a:chExt cx="7071360" cy="97536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7071360" cy="975360"/>
            </a:xfrm>
            <a:custGeom>
              <a:avLst/>
              <a:gdLst/>
              <a:ahLst/>
              <a:cxnLst/>
              <a:rect r="r" b="b" t="t" l="l"/>
              <a:pathLst>
                <a:path h="9753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707136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832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9320527" y="8241535"/>
            <a:ext cx="5864857" cy="744217"/>
            <a:chOff x="0" y="0"/>
            <a:chExt cx="7819809" cy="992289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8509" y="8509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DEAEA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819899" cy="992378"/>
            </a:xfrm>
            <a:custGeom>
              <a:avLst/>
              <a:gdLst/>
              <a:ahLst/>
              <a:cxnLst/>
              <a:rect r="r" b="b" t="t" l="l"/>
              <a:pathLst>
                <a:path h="992378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983869"/>
                  </a:lnTo>
                  <a:cubicBezTo>
                    <a:pt x="7819899" y="988568"/>
                    <a:pt x="7816088" y="992378"/>
                    <a:pt x="781138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7811389" y="975360"/>
                  </a:lnTo>
                  <a:lnTo>
                    <a:pt x="7811389" y="983869"/>
                  </a:lnTo>
                  <a:lnTo>
                    <a:pt x="7802880" y="983869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418320" y="8247888"/>
            <a:ext cx="5669280" cy="731520"/>
            <a:chOff x="0" y="0"/>
            <a:chExt cx="7559040" cy="97536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755904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832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Aucun accès accordé à ces services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5172687" y="8241535"/>
            <a:ext cx="1475737" cy="744217"/>
            <a:chOff x="0" y="0"/>
            <a:chExt cx="1967649" cy="99228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8509" y="8509"/>
              <a:ext cx="195072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DEAEA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967738" cy="992378"/>
            </a:xfrm>
            <a:custGeom>
              <a:avLst/>
              <a:gdLst/>
              <a:ahLst/>
              <a:cxnLst/>
              <a:rect r="r" b="b" t="t" l="l"/>
              <a:pathLst>
                <a:path h="992378" w="1967738">
                  <a:moveTo>
                    <a:pt x="8509" y="0"/>
                  </a:moveTo>
                  <a:lnTo>
                    <a:pt x="1959229" y="0"/>
                  </a:lnTo>
                  <a:cubicBezTo>
                    <a:pt x="1963928" y="0"/>
                    <a:pt x="1967738" y="3810"/>
                    <a:pt x="1967738" y="8509"/>
                  </a:cubicBezTo>
                  <a:lnTo>
                    <a:pt x="1967738" y="983869"/>
                  </a:lnTo>
                  <a:cubicBezTo>
                    <a:pt x="1967738" y="988568"/>
                    <a:pt x="1963928" y="992378"/>
                    <a:pt x="1959229" y="992378"/>
                  </a:cubicBezTo>
                  <a:lnTo>
                    <a:pt x="8509" y="992378"/>
                  </a:lnTo>
                  <a:cubicBezTo>
                    <a:pt x="3810" y="992378"/>
                    <a:pt x="0" y="988568"/>
                    <a:pt x="0" y="983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8509" y="975360"/>
                  </a:lnTo>
                  <a:lnTo>
                    <a:pt x="1959229" y="975360"/>
                  </a:lnTo>
                  <a:lnTo>
                    <a:pt x="1959229" y="983869"/>
                  </a:lnTo>
                  <a:lnTo>
                    <a:pt x="1950720" y="983869"/>
                  </a:lnTo>
                  <a:lnTo>
                    <a:pt x="1950720" y="8509"/>
                  </a:lnTo>
                  <a:lnTo>
                    <a:pt x="1959229" y="8509"/>
                  </a:lnTo>
                  <a:lnTo>
                    <a:pt x="19592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5270480" y="8247888"/>
            <a:ext cx="1280160" cy="731520"/>
            <a:chOff x="0" y="0"/>
            <a:chExt cx="1706880" cy="97536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47625"/>
              <a:ext cx="17068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B832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D47C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7C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📊  Monitoring &amp; Alertes — Amazon CloudWatch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4960" y="0"/>
            <a:ext cx="1280160" cy="2011680"/>
            <a:chOff x="0" y="0"/>
            <a:chExt cx="170688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1619" t="0" r="-15161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>
                  <a:solidFill>
                    <a:srgbClr val="F5C9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2103120"/>
            <a:ext cx="16459200" cy="640080"/>
            <a:chOff x="0" y="0"/>
            <a:chExt cx="2194560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 alarmes configurées — Action : email SNS automatique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5943" y="2913383"/>
            <a:ext cx="5420363" cy="2951483"/>
            <a:chOff x="0" y="0"/>
            <a:chExt cx="7227151" cy="39353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193281" cy="3901440"/>
            </a:xfrm>
            <a:custGeom>
              <a:avLst/>
              <a:gdLst/>
              <a:ahLst/>
              <a:cxnLst/>
              <a:rect r="r" b="b" t="t" l="l"/>
              <a:pathLst>
                <a:path h="390144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270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3918331"/>
                  </a:lnTo>
                  <a:cubicBezTo>
                    <a:pt x="7227062" y="3927729"/>
                    <a:pt x="7219442" y="3935222"/>
                    <a:pt x="7210172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7210172" y="3901440"/>
                  </a:lnTo>
                  <a:lnTo>
                    <a:pt x="7210172" y="3918331"/>
                  </a:lnTo>
                  <a:lnTo>
                    <a:pt x="7193280" y="391833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5943" y="2913383"/>
            <a:ext cx="153419" cy="2951483"/>
            <a:chOff x="0" y="0"/>
            <a:chExt cx="204559" cy="39353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B8323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323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3291840"/>
            <a:ext cx="1097280" cy="1097280"/>
            <a:chOff x="0" y="0"/>
            <a:chExt cx="146304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146304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🌡️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11680" y="3291840"/>
            <a:ext cx="3749040" cy="914400"/>
            <a:chOff x="0" y="0"/>
            <a:chExt cx="499872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9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99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8323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Température &gt; 42°C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011680" y="4297680"/>
            <a:ext cx="3749040" cy="1188720"/>
            <a:chOff x="0" y="0"/>
            <a:chExt cx="4998720" cy="158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Risque vital pour les agriculteurs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296663" y="2913383"/>
            <a:ext cx="5420363" cy="2951483"/>
            <a:chOff x="0" y="0"/>
            <a:chExt cx="7227151" cy="39353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193281" cy="3901440"/>
            </a:xfrm>
            <a:custGeom>
              <a:avLst/>
              <a:gdLst/>
              <a:ahLst/>
              <a:cxnLst/>
              <a:rect r="r" b="b" t="t" l="l"/>
              <a:pathLst>
                <a:path h="390144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270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3918331"/>
                  </a:lnTo>
                  <a:cubicBezTo>
                    <a:pt x="7227062" y="3927729"/>
                    <a:pt x="7219442" y="3935222"/>
                    <a:pt x="7210172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7210172" y="3901440"/>
                  </a:lnTo>
                  <a:lnTo>
                    <a:pt x="7210172" y="3918331"/>
                  </a:lnTo>
                  <a:lnTo>
                    <a:pt x="7193280" y="391833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296663" y="2913383"/>
            <a:ext cx="153419" cy="2951483"/>
            <a:chOff x="0" y="0"/>
            <a:chExt cx="204559" cy="39353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E5FA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5FA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83680" y="3291840"/>
            <a:ext cx="1097280" cy="1097280"/>
            <a:chOff x="0" y="0"/>
            <a:chExt cx="146304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146304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🌧️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772400" y="3291840"/>
            <a:ext cx="3749040" cy="914400"/>
            <a:chOff x="0" y="0"/>
            <a:chExt cx="499872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9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99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5FA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Pluies &gt; 100mm/24h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772400" y="4297680"/>
            <a:ext cx="3749040" cy="1188720"/>
            <a:chOff x="0" y="0"/>
            <a:chExt cx="4998720" cy="1584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Risque d'inondation des cultures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057383" y="2913383"/>
            <a:ext cx="5420363" cy="2951483"/>
            <a:chOff x="0" y="0"/>
            <a:chExt cx="7227151" cy="39353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7193281" cy="3901440"/>
            </a:xfrm>
            <a:custGeom>
              <a:avLst/>
              <a:gdLst/>
              <a:ahLst/>
              <a:cxnLst/>
              <a:rect r="r" b="b" t="t" l="l"/>
              <a:pathLst>
                <a:path h="390144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2270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3918331"/>
                  </a:lnTo>
                  <a:cubicBezTo>
                    <a:pt x="7227062" y="3927729"/>
                    <a:pt x="7219442" y="3935222"/>
                    <a:pt x="7210172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7210172" y="3901440"/>
                  </a:lnTo>
                  <a:lnTo>
                    <a:pt x="7210172" y="3918331"/>
                  </a:lnTo>
                  <a:lnTo>
                    <a:pt x="7193280" y="391833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057383" y="2913383"/>
            <a:ext cx="153419" cy="2951483"/>
            <a:chOff x="0" y="0"/>
            <a:chExt cx="204559" cy="39353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6B728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728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44400" y="3291840"/>
            <a:ext cx="1097280" cy="1097280"/>
            <a:chOff x="0" y="0"/>
            <a:chExt cx="146304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04775"/>
              <a:ext cx="146304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533120" y="3291840"/>
            <a:ext cx="3749040" cy="914400"/>
            <a:chOff x="0" y="0"/>
            <a:chExt cx="499872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9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99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6B728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Échec Lambda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533120" y="4297680"/>
            <a:ext cx="3749040" cy="1188720"/>
            <a:chOff x="0" y="0"/>
            <a:chExt cx="499872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Interruption de la collecte détectée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370583" y="6388103"/>
            <a:ext cx="5420363" cy="2951483"/>
            <a:chOff x="0" y="0"/>
            <a:chExt cx="7227151" cy="39353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7193281" cy="3901440"/>
            </a:xfrm>
            <a:custGeom>
              <a:avLst/>
              <a:gdLst/>
              <a:ahLst/>
              <a:cxnLst/>
              <a:rect r="r" b="b" t="t" l="l"/>
              <a:pathLst>
                <a:path h="390144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2270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3918331"/>
                  </a:lnTo>
                  <a:cubicBezTo>
                    <a:pt x="7227062" y="3927729"/>
                    <a:pt x="7219442" y="3935222"/>
                    <a:pt x="7210172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7210172" y="3901440"/>
                  </a:lnTo>
                  <a:lnTo>
                    <a:pt x="7210172" y="3918331"/>
                  </a:lnTo>
                  <a:lnTo>
                    <a:pt x="7193280" y="391833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3370583" y="6388103"/>
            <a:ext cx="153419" cy="2951483"/>
            <a:chOff x="0" y="0"/>
            <a:chExt cx="204559" cy="39353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47C2A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7C2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3657600" y="6766560"/>
            <a:ext cx="1097280" cy="1097280"/>
            <a:chOff x="0" y="0"/>
            <a:chExt cx="1463040" cy="14630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04775"/>
              <a:ext cx="146304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⏱️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846320" y="6766560"/>
            <a:ext cx="3749040" cy="914400"/>
            <a:chOff x="0" y="0"/>
            <a:chExt cx="4998720" cy="1219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99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99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47C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Latence &gt; 5 secondes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846320" y="7772400"/>
            <a:ext cx="3749040" cy="1188720"/>
            <a:chOff x="0" y="0"/>
            <a:chExt cx="4998720" cy="15849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 système dégradée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131303" y="6388103"/>
            <a:ext cx="5420363" cy="2951483"/>
            <a:chOff x="0" y="0"/>
            <a:chExt cx="7227151" cy="39353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7193281" cy="3901440"/>
            </a:xfrm>
            <a:custGeom>
              <a:avLst/>
              <a:gdLst/>
              <a:ahLst/>
              <a:cxnLst/>
              <a:rect r="r" b="b" t="t" l="l"/>
              <a:pathLst>
                <a:path h="390144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227062" cy="3935222"/>
            </a:xfrm>
            <a:custGeom>
              <a:avLst/>
              <a:gdLst/>
              <a:ahLst/>
              <a:cxnLst/>
              <a:rect r="r" b="b" t="t" l="l"/>
              <a:pathLst>
                <a:path h="393522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3918331"/>
                  </a:lnTo>
                  <a:cubicBezTo>
                    <a:pt x="7227062" y="3927729"/>
                    <a:pt x="7219442" y="3935222"/>
                    <a:pt x="7210172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7210172" y="3901440"/>
                  </a:lnTo>
                  <a:lnTo>
                    <a:pt x="7210172" y="3918331"/>
                  </a:lnTo>
                  <a:lnTo>
                    <a:pt x="7193280" y="391833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131303" y="6388103"/>
            <a:ext cx="153419" cy="2951483"/>
            <a:chOff x="0" y="0"/>
            <a:chExt cx="204559" cy="393531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70688" cy="3901440"/>
            </a:xfrm>
            <a:custGeom>
              <a:avLst/>
              <a:gdLst/>
              <a:ahLst/>
              <a:cxnLst/>
              <a:rect r="r" b="b" t="t" l="l"/>
              <a:pathLst>
                <a:path h="39014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C3A22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4470" cy="3935222"/>
            </a:xfrm>
            <a:custGeom>
              <a:avLst/>
              <a:gdLst/>
              <a:ahLst/>
              <a:cxnLst/>
              <a:rect r="r" b="b" t="t" l="l"/>
              <a:pathLst>
                <a:path h="39352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918331"/>
                  </a:lnTo>
                  <a:cubicBezTo>
                    <a:pt x="204470" y="3927729"/>
                    <a:pt x="196850" y="3935222"/>
                    <a:pt x="187579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87579" y="3901440"/>
                  </a:lnTo>
                  <a:lnTo>
                    <a:pt x="187579" y="3918331"/>
                  </a:lnTo>
                  <a:lnTo>
                    <a:pt x="170688" y="39183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A22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418320" y="6766560"/>
            <a:ext cx="1097280" cy="1097280"/>
            <a:chOff x="0" y="0"/>
            <a:chExt cx="1463040" cy="14630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04775"/>
              <a:ext cx="146304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🗄️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607040" y="6766560"/>
            <a:ext cx="3749040" cy="914400"/>
            <a:chOff x="0" y="0"/>
            <a:chExt cx="4998720" cy="1219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99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499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C3A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Erreurs DynamoDB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607040" y="7772400"/>
            <a:ext cx="3749040" cy="1188720"/>
            <a:chOff x="0" y="0"/>
            <a:chExt cx="4998720" cy="15849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998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52" r="0" b="-1145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9987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Problème de stockage des données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35943" y="9314183"/>
            <a:ext cx="17216123" cy="720347"/>
            <a:chOff x="0" y="0"/>
            <a:chExt cx="22954831" cy="96046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22920960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2954743" cy="960376"/>
            </a:xfrm>
            <a:custGeom>
              <a:avLst/>
              <a:gdLst/>
              <a:ahLst/>
              <a:cxnLst/>
              <a:rect r="r" b="b" t="t" l="l"/>
              <a:pathLst>
                <a:path h="96037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943483"/>
                  </a:lnTo>
                  <a:cubicBezTo>
                    <a:pt x="22954743" y="952881"/>
                    <a:pt x="22947123" y="960374"/>
                    <a:pt x="2293785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2937851" y="926592"/>
                  </a:lnTo>
                  <a:lnTo>
                    <a:pt x="22937851" y="943483"/>
                  </a:lnTo>
                  <a:lnTo>
                    <a:pt x="22920961" y="94348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14400" y="9326880"/>
            <a:ext cx="16459200" cy="694944"/>
            <a:chOff x="0" y="0"/>
            <a:chExt cx="2194560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21945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A7A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📈  Métrique personnalisée : WilayasCollectees (Namespace: P04/Meteo) — Objectif 8/8 par cycle ✓</a:t>
              </a:r>
            </a:p>
          </p:txBody>
        </p:sp>
      </p:grpSp>
    </p:spTree>
  </p:cSld>
  <p:clrMapOvr>
    <a:masterClrMapping/>
  </p:clrMapOvr>
  <p:transition spd="fast">
    <p:cover dir="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💰  Analyse des coûts — ~0.33 $/mois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4960" y="0"/>
            <a:ext cx="1280160" cy="2011680"/>
            <a:chOff x="0" y="0"/>
            <a:chExt cx="170688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1619" t="0" r="-15161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>
                  <a:solidFill>
                    <a:srgbClr val="E8F4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2103120"/>
            <a:ext cx="10058400" cy="640080"/>
            <a:chOff x="0" y="0"/>
            <a:chExt cx="1341120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1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34112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Estimation mensuelle (AWS Pricing Calculator)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31520" y="2926080"/>
            <a:ext cx="3291840" cy="914400"/>
            <a:chOff x="0" y="0"/>
            <a:chExt cx="438912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3891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Lambda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93543" y="3096263"/>
            <a:ext cx="391163" cy="610619"/>
            <a:chOff x="0" y="0"/>
            <a:chExt cx="521551" cy="8141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48768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E5FA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462" cy="814072"/>
            </a:xfrm>
            <a:custGeom>
              <a:avLst/>
              <a:gdLst/>
              <a:ahLst/>
              <a:cxnLst/>
              <a:rect r="r" b="b" t="t" l="l"/>
              <a:pathLst>
                <a:path h="814072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797179"/>
                  </a:lnTo>
                  <a:cubicBezTo>
                    <a:pt x="521462" y="806577"/>
                    <a:pt x="513842" y="814070"/>
                    <a:pt x="5045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504571" y="780288"/>
                  </a:lnTo>
                  <a:lnTo>
                    <a:pt x="504571" y="797179"/>
                  </a:lnTo>
                  <a:lnTo>
                    <a:pt x="487680" y="797179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5FA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54880" y="2926080"/>
            <a:ext cx="1645920" cy="914400"/>
            <a:chOff x="0" y="0"/>
            <a:chExt cx="219456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945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5F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0.00 $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97063" y="3096263"/>
            <a:ext cx="2219963" cy="574043"/>
            <a:chOff x="0" y="0"/>
            <a:chExt cx="2959951" cy="7653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59862" cy="765304"/>
            </a:xfrm>
            <a:custGeom>
              <a:avLst/>
              <a:gdLst/>
              <a:ahLst/>
              <a:cxnLst/>
              <a:rect r="r" b="b" t="t" l="l"/>
              <a:pathLst>
                <a:path h="765304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748411"/>
                  </a:lnTo>
                  <a:cubicBezTo>
                    <a:pt x="2959862" y="757809"/>
                    <a:pt x="2952242" y="765302"/>
                    <a:pt x="294297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942971" y="731520"/>
                  </a:lnTo>
                  <a:lnTo>
                    <a:pt x="2942971" y="748411"/>
                  </a:lnTo>
                  <a:lnTo>
                    <a:pt x="2926080" y="74841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09760" y="3108960"/>
            <a:ext cx="2194560" cy="548640"/>
            <a:chOff x="0" y="0"/>
            <a:chExt cx="292608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926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Free Tier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31520" y="4151376"/>
            <a:ext cx="3291840" cy="914400"/>
            <a:chOff x="0" y="0"/>
            <a:chExt cx="438912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3891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DynamoDB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193543" y="4321559"/>
            <a:ext cx="391163" cy="610619"/>
            <a:chOff x="0" y="0"/>
            <a:chExt cx="521551" cy="8141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48768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2A7A4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21462" cy="814072"/>
            </a:xfrm>
            <a:custGeom>
              <a:avLst/>
              <a:gdLst/>
              <a:ahLst/>
              <a:cxnLst/>
              <a:rect r="r" b="b" t="t" l="l"/>
              <a:pathLst>
                <a:path h="814072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797179"/>
                  </a:lnTo>
                  <a:cubicBezTo>
                    <a:pt x="521462" y="806577"/>
                    <a:pt x="513842" y="814070"/>
                    <a:pt x="5045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504571" y="780288"/>
                  </a:lnTo>
                  <a:lnTo>
                    <a:pt x="504571" y="797179"/>
                  </a:lnTo>
                  <a:lnTo>
                    <a:pt x="487680" y="797179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A7A4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754880" y="4151376"/>
            <a:ext cx="1645920" cy="914400"/>
            <a:chOff x="0" y="0"/>
            <a:chExt cx="219456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45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A7A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0.00 $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97063" y="4321559"/>
            <a:ext cx="2219963" cy="574043"/>
            <a:chOff x="0" y="0"/>
            <a:chExt cx="2959951" cy="7653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59862" cy="765304"/>
            </a:xfrm>
            <a:custGeom>
              <a:avLst/>
              <a:gdLst/>
              <a:ahLst/>
              <a:cxnLst/>
              <a:rect r="r" b="b" t="t" l="l"/>
              <a:pathLst>
                <a:path h="765304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748411"/>
                  </a:lnTo>
                  <a:cubicBezTo>
                    <a:pt x="2959862" y="757809"/>
                    <a:pt x="2952242" y="765302"/>
                    <a:pt x="294297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942971" y="731520"/>
                  </a:lnTo>
                  <a:lnTo>
                    <a:pt x="2942971" y="748411"/>
                  </a:lnTo>
                  <a:lnTo>
                    <a:pt x="2926080" y="74841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509760" y="4334256"/>
            <a:ext cx="2194560" cy="548640"/>
            <a:chOff x="0" y="0"/>
            <a:chExt cx="292608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926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Free Tier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31520" y="5376672"/>
            <a:ext cx="3291840" cy="914400"/>
            <a:chOff x="0" y="0"/>
            <a:chExt cx="438912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3891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193543" y="5546855"/>
            <a:ext cx="464315" cy="610619"/>
            <a:chOff x="0" y="0"/>
            <a:chExt cx="619087" cy="81415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585216" cy="780288"/>
            </a:xfrm>
            <a:custGeom>
              <a:avLst/>
              <a:gdLst/>
              <a:ahLst/>
              <a:cxnLst/>
              <a:rect r="r" b="b" t="t" l="l"/>
              <a:pathLst>
                <a:path h="780288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D47C2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18998" cy="814072"/>
            </a:xfrm>
            <a:custGeom>
              <a:avLst/>
              <a:gdLst/>
              <a:ahLst/>
              <a:cxnLst/>
              <a:rect r="r" b="b" t="t" l="l"/>
              <a:pathLst>
                <a:path h="814072" w="618998">
                  <a:moveTo>
                    <a:pt x="16891" y="0"/>
                  </a:moveTo>
                  <a:lnTo>
                    <a:pt x="602107" y="0"/>
                  </a:lnTo>
                  <a:cubicBezTo>
                    <a:pt x="611505" y="0"/>
                    <a:pt x="618998" y="7620"/>
                    <a:pt x="618998" y="16891"/>
                  </a:cubicBezTo>
                  <a:lnTo>
                    <a:pt x="618998" y="797179"/>
                  </a:lnTo>
                  <a:cubicBezTo>
                    <a:pt x="618998" y="806577"/>
                    <a:pt x="611378" y="814070"/>
                    <a:pt x="602107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602107" y="780288"/>
                  </a:lnTo>
                  <a:lnTo>
                    <a:pt x="602107" y="797179"/>
                  </a:lnTo>
                  <a:lnTo>
                    <a:pt x="585216" y="797179"/>
                  </a:lnTo>
                  <a:lnTo>
                    <a:pt x="585216" y="16891"/>
                  </a:lnTo>
                  <a:lnTo>
                    <a:pt x="602107" y="16891"/>
                  </a:lnTo>
                  <a:lnTo>
                    <a:pt x="60210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47C2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28032" y="5376672"/>
            <a:ext cx="1645920" cy="914400"/>
            <a:chOff x="0" y="0"/>
            <a:chExt cx="2194560" cy="1219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4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1945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47C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0.02 $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31520" y="6601968"/>
            <a:ext cx="3291840" cy="914400"/>
            <a:chOff x="0" y="0"/>
            <a:chExt cx="438912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3891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CloudFront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193543" y="6772151"/>
            <a:ext cx="391163" cy="610619"/>
            <a:chOff x="0" y="0"/>
            <a:chExt cx="521551" cy="8141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48768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3D9B61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21462" cy="814072"/>
            </a:xfrm>
            <a:custGeom>
              <a:avLst/>
              <a:gdLst/>
              <a:ahLst/>
              <a:cxnLst/>
              <a:rect r="r" b="b" t="t" l="l"/>
              <a:pathLst>
                <a:path h="814072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797179"/>
                  </a:lnTo>
                  <a:cubicBezTo>
                    <a:pt x="521462" y="806577"/>
                    <a:pt x="513842" y="814070"/>
                    <a:pt x="5045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504571" y="780288"/>
                  </a:lnTo>
                  <a:lnTo>
                    <a:pt x="504571" y="797179"/>
                  </a:lnTo>
                  <a:lnTo>
                    <a:pt x="487680" y="797179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9B61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754880" y="6601968"/>
            <a:ext cx="1645920" cy="914400"/>
            <a:chOff x="0" y="0"/>
            <a:chExt cx="2194560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4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1945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D9B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0.01 $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31520" y="7827264"/>
            <a:ext cx="3291840" cy="914400"/>
            <a:chOff x="0" y="0"/>
            <a:chExt cx="438912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3891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C2B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CloudWatch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193543" y="7997447"/>
            <a:ext cx="6609083" cy="610619"/>
            <a:chOff x="0" y="0"/>
            <a:chExt cx="8812111" cy="81415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8778240" cy="780288"/>
            </a:xfrm>
            <a:custGeom>
              <a:avLst/>
              <a:gdLst/>
              <a:ahLst/>
              <a:cxnLst/>
              <a:rect r="r" b="b" t="t" l="l"/>
              <a:pathLst>
                <a:path h="78028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B83232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812022" cy="814072"/>
            </a:xfrm>
            <a:custGeom>
              <a:avLst/>
              <a:gdLst/>
              <a:ahLst/>
              <a:cxnLst/>
              <a:rect r="r" b="b" t="t" l="l"/>
              <a:pathLst>
                <a:path h="814072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797179"/>
                  </a:lnTo>
                  <a:cubicBezTo>
                    <a:pt x="8812022" y="806577"/>
                    <a:pt x="8804402" y="814070"/>
                    <a:pt x="879513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8795131" y="780288"/>
                  </a:lnTo>
                  <a:lnTo>
                    <a:pt x="8795131" y="797179"/>
                  </a:lnTo>
                  <a:lnTo>
                    <a:pt x="8778240" y="797179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83232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972800" y="7827264"/>
            <a:ext cx="1645920" cy="914400"/>
            <a:chOff x="0" y="0"/>
            <a:chExt cx="2194560" cy="1219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945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1945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832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0.30 $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97063" y="7997447"/>
            <a:ext cx="2219963" cy="574043"/>
            <a:chOff x="0" y="0"/>
            <a:chExt cx="2959951" cy="76539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59862" cy="765304"/>
            </a:xfrm>
            <a:custGeom>
              <a:avLst/>
              <a:gdLst/>
              <a:ahLst/>
              <a:cxnLst/>
              <a:rect r="r" b="b" t="t" l="l"/>
              <a:pathLst>
                <a:path h="765304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748411"/>
                  </a:lnTo>
                  <a:cubicBezTo>
                    <a:pt x="2959862" y="757809"/>
                    <a:pt x="2952242" y="765302"/>
                    <a:pt x="294297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942971" y="731520"/>
                  </a:lnTo>
                  <a:lnTo>
                    <a:pt x="2942971" y="748411"/>
                  </a:lnTo>
                  <a:lnTo>
                    <a:pt x="2926080" y="74841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509760" y="8010144"/>
            <a:ext cx="2194560" cy="548640"/>
            <a:chOff x="0" y="0"/>
            <a:chExt cx="292608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926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Partiel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18823" y="9039863"/>
            <a:ext cx="10998203" cy="848363"/>
            <a:chOff x="0" y="0"/>
            <a:chExt cx="14664271" cy="113115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463039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C2B1A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46641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1114171"/>
                  </a:lnTo>
                  <a:cubicBezTo>
                    <a:pt x="14664182" y="1123569"/>
                    <a:pt x="14656563" y="1131062"/>
                    <a:pt x="14647290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4647290" y="1097280"/>
                  </a:lnTo>
                  <a:lnTo>
                    <a:pt x="14647290" y="1114171"/>
                  </a:lnTo>
                  <a:lnTo>
                    <a:pt x="14630400" y="1114171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2B1A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31520" y="9052560"/>
            <a:ext cx="10972800" cy="822960"/>
            <a:chOff x="0" y="0"/>
            <a:chExt cx="14630400" cy="10972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146304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TOTAL MENSUEL    →    0.33 $ / mois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435840" y="2103120"/>
            <a:ext cx="5486400" cy="640080"/>
            <a:chOff x="0" y="0"/>
            <a:chExt cx="7315200" cy="853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31520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73152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C2B1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Optimisations identifiées :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423143" y="2913383"/>
            <a:ext cx="5328923" cy="976379"/>
            <a:chOff x="0" y="0"/>
            <a:chExt cx="7105231" cy="130183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1051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284859"/>
                  </a:lnTo>
                  <a:cubicBezTo>
                    <a:pt x="7105142" y="1294257"/>
                    <a:pt x="7097522" y="1301750"/>
                    <a:pt x="70882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088251" y="1267968"/>
                  </a:lnTo>
                  <a:lnTo>
                    <a:pt x="7088251" y="1284859"/>
                  </a:lnTo>
                  <a:lnTo>
                    <a:pt x="7071360" y="128485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618720" y="2926080"/>
            <a:ext cx="4937760" cy="950976"/>
            <a:chOff x="0" y="0"/>
            <a:chExt cx="6583680" cy="126796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5836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172" r="0" b="-5117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658368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TTL DynamoDB → 365j auto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423143" y="4138679"/>
            <a:ext cx="5328923" cy="976379"/>
            <a:chOff x="0" y="0"/>
            <a:chExt cx="7105231" cy="130183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1051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284859"/>
                  </a:lnTo>
                  <a:cubicBezTo>
                    <a:pt x="7105142" y="1294257"/>
                    <a:pt x="7097522" y="1301750"/>
                    <a:pt x="70882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088251" y="1267968"/>
                  </a:lnTo>
                  <a:lnTo>
                    <a:pt x="7088251" y="1284859"/>
                  </a:lnTo>
                  <a:lnTo>
                    <a:pt x="7071360" y="128485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618720" y="4151376"/>
            <a:ext cx="4937760" cy="950976"/>
            <a:chOff x="0" y="0"/>
            <a:chExt cx="6583680" cy="126796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5836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172" r="0" b="-5117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58368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Lambda On-demand → 0€ idle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423143" y="5363975"/>
            <a:ext cx="5328923" cy="976379"/>
            <a:chOff x="0" y="0"/>
            <a:chExt cx="7105231" cy="130183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1051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284859"/>
                  </a:lnTo>
                  <a:cubicBezTo>
                    <a:pt x="7105142" y="1294257"/>
                    <a:pt x="7097522" y="1301750"/>
                    <a:pt x="70882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088251" y="1267968"/>
                  </a:lnTo>
                  <a:lnTo>
                    <a:pt x="7088251" y="1284859"/>
                  </a:lnTo>
                  <a:lnTo>
                    <a:pt x="7071360" y="128485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618720" y="5376672"/>
            <a:ext cx="4937760" cy="950976"/>
            <a:chOff x="0" y="0"/>
            <a:chExt cx="6583680" cy="126796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5836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172" r="0" b="-5117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658368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CloudFront Cache → -80% S3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423143" y="6589271"/>
            <a:ext cx="5328923" cy="976379"/>
            <a:chOff x="0" y="0"/>
            <a:chExt cx="7105231" cy="130183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1051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284859"/>
                  </a:lnTo>
                  <a:cubicBezTo>
                    <a:pt x="7105142" y="1294257"/>
                    <a:pt x="7097522" y="1301750"/>
                    <a:pt x="70882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088251" y="1267968"/>
                  </a:lnTo>
                  <a:lnTo>
                    <a:pt x="7088251" y="1284859"/>
                  </a:lnTo>
                  <a:lnTo>
                    <a:pt x="7071360" y="128485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618720" y="6601968"/>
            <a:ext cx="4937760" cy="950976"/>
            <a:chOff x="0" y="0"/>
            <a:chExt cx="6583680" cy="126796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5836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172" r="0" b="-5117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658368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Fréquence 3h → 3× moins cher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423143" y="7814567"/>
            <a:ext cx="5328923" cy="976379"/>
            <a:chOff x="0" y="0"/>
            <a:chExt cx="7105231" cy="130183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7071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105142" cy="1301750"/>
            </a:xfrm>
            <a:custGeom>
              <a:avLst/>
              <a:gdLst/>
              <a:ahLst/>
              <a:cxnLst/>
              <a:rect r="r" b="b" t="t" l="l"/>
              <a:pathLst>
                <a:path h="130175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284859"/>
                  </a:lnTo>
                  <a:cubicBezTo>
                    <a:pt x="7105142" y="1294257"/>
                    <a:pt x="7097522" y="1301750"/>
                    <a:pt x="708825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7088251" y="1267968"/>
                  </a:lnTo>
                  <a:lnTo>
                    <a:pt x="7088251" y="1284859"/>
                  </a:lnTo>
                  <a:lnTo>
                    <a:pt x="7071360" y="128485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2618720" y="7827264"/>
            <a:ext cx="4937760" cy="950976"/>
            <a:chOff x="0" y="0"/>
            <a:chExt cx="6583680" cy="126796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5836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172" r="0" b="-51172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658368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S3 Intelligent-Tiering</a:t>
              </a:r>
            </a:p>
          </p:txBody>
        </p:sp>
      </p:grpSp>
    </p:spTree>
  </p:cSld>
  <p:clrMapOvr>
    <a:masterClrMapping/>
  </p:clrMapOvr>
  <p:transition spd="slow">
    <p:cover dir="r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C3A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A2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0"/>
            <a:ext cx="16459200" cy="2011680"/>
            <a:chOff x="0" y="0"/>
            <a:chExt cx="21945600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4560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🛠️  Défis rencontrés &amp; Solutions apportées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4960" y="0"/>
            <a:ext cx="1280160" cy="2011680"/>
            <a:chOff x="0" y="0"/>
            <a:chExt cx="170688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1619" t="0" r="-15161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0688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>
                  <a:solidFill>
                    <a:srgbClr val="3D9B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364743"/>
            <a:ext cx="17216123" cy="1579883"/>
            <a:chOff x="0" y="0"/>
            <a:chExt cx="22954831" cy="21065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920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743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2089531"/>
                  </a:lnTo>
                  <a:cubicBezTo>
                    <a:pt x="22954743" y="2098929"/>
                    <a:pt x="22947123" y="2106422"/>
                    <a:pt x="2293785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2937851" y="2072640"/>
                  </a:lnTo>
                  <a:lnTo>
                    <a:pt x="22937851" y="2089531"/>
                  </a:lnTo>
                  <a:lnTo>
                    <a:pt x="22920961" y="208953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2377440"/>
            <a:ext cx="1188720" cy="1554480"/>
            <a:chOff x="0" y="0"/>
            <a:chExt cx="1584960" cy="2072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84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7781" t="0" r="-11778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58496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📦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24663" y="2511047"/>
            <a:ext cx="7340603" cy="574043"/>
            <a:chOff x="0" y="0"/>
            <a:chExt cx="9787471" cy="7653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DEAE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87382" cy="765304"/>
            </a:xfrm>
            <a:custGeom>
              <a:avLst/>
              <a:gdLst/>
              <a:ahLst/>
              <a:cxnLst/>
              <a:rect r="r" b="b" t="t" l="l"/>
              <a:pathLst>
                <a:path h="765304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748411"/>
                  </a:lnTo>
                  <a:cubicBezTo>
                    <a:pt x="9787382" y="757809"/>
                    <a:pt x="9779762" y="765302"/>
                    <a:pt x="97704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9770491" y="731520"/>
                  </a:lnTo>
                  <a:lnTo>
                    <a:pt x="9770491" y="748411"/>
                  </a:lnTo>
                  <a:lnTo>
                    <a:pt x="9753600" y="74841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B8B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37360" y="2523744"/>
            <a:ext cx="7315200" cy="548640"/>
            <a:chOff x="0" y="0"/>
            <a:chExt cx="97536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B832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Erreur 403 sur S3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14183" y="2511047"/>
            <a:ext cx="8255003" cy="574043"/>
            <a:chOff x="0" y="0"/>
            <a:chExt cx="11006671" cy="7653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06582" cy="765304"/>
            </a:xfrm>
            <a:custGeom>
              <a:avLst/>
              <a:gdLst/>
              <a:ahLst/>
              <a:cxnLst/>
              <a:rect r="r" b="b" t="t" l="l"/>
              <a:pathLst>
                <a:path h="76530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48411"/>
                  </a:lnTo>
                  <a:cubicBezTo>
                    <a:pt x="11006582" y="757809"/>
                    <a:pt x="10998962" y="765302"/>
                    <a:pt x="109896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0989691" y="731520"/>
                  </a:lnTo>
                  <a:lnTo>
                    <a:pt x="10989691" y="748411"/>
                  </a:lnTo>
                  <a:lnTo>
                    <a:pt x="10972800" y="7484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326880" y="2523744"/>
            <a:ext cx="8229600" cy="548640"/>
            <a:chOff x="0" y="0"/>
            <a:chExt cx="109728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Configuration bucket policy + Static Website Hosting activé correctement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321040" y="2871216"/>
            <a:ext cx="914400" cy="548640"/>
            <a:chOff x="0" y="0"/>
            <a:chExt cx="12192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219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37360" y="3255264"/>
            <a:ext cx="15819120" cy="512064"/>
            <a:chOff x="0" y="0"/>
            <a:chExt cx="2109216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092161" cy="682752"/>
            </a:xfrm>
            <a:custGeom>
              <a:avLst/>
              <a:gdLst/>
              <a:ahLst/>
              <a:cxnLst/>
              <a:rect r="r" b="b" t="t" l="l"/>
              <a:pathLst>
                <a:path h="682752" w="21092161">
                  <a:moveTo>
                    <a:pt x="0" y="0"/>
                  </a:moveTo>
                  <a:lnTo>
                    <a:pt x="21092161" y="0"/>
                  </a:lnTo>
                  <a:lnTo>
                    <a:pt x="210921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1948" r="0" b="-55194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1092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Ce qu'on a appris : gérer les permissions AWS, l'ordre d'exécution des services et les délais d'activation des APIs.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35943" y="4193543"/>
            <a:ext cx="17216123" cy="1579883"/>
            <a:chOff x="0" y="0"/>
            <a:chExt cx="22954831" cy="21065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22920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954743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2089531"/>
                  </a:lnTo>
                  <a:cubicBezTo>
                    <a:pt x="22954743" y="2098929"/>
                    <a:pt x="22947123" y="2106422"/>
                    <a:pt x="2293785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2937851" y="2072640"/>
                  </a:lnTo>
                  <a:lnTo>
                    <a:pt x="22937851" y="2089531"/>
                  </a:lnTo>
                  <a:lnTo>
                    <a:pt x="22920961" y="208953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48640" y="4206240"/>
            <a:ext cx="1188720" cy="1554480"/>
            <a:chOff x="0" y="0"/>
            <a:chExt cx="1584960" cy="2072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84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7781" t="0" r="-11778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158496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🗄️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24663" y="4339847"/>
            <a:ext cx="7340603" cy="574043"/>
            <a:chOff x="0" y="0"/>
            <a:chExt cx="9787471" cy="7653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DEAE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87382" cy="765304"/>
            </a:xfrm>
            <a:custGeom>
              <a:avLst/>
              <a:gdLst/>
              <a:ahLst/>
              <a:cxnLst/>
              <a:rect r="r" b="b" t="t" l="l"/>
              <a:pathLst>
                <a:path h="765304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748411"/>
                  </a:lnTo>
                  <a:cubicBezTo>
                    <a:pt x="9787382" y="757809"/>
                    <a:pt x="9779762" y="765302"/>
                    <a:pt x="97704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9770491" y="731520"/>
                  </a:lnTo>
                  <a:lnTo>
                    <a:pt x="9770491" y="748411"/>
                  </a:lnTo>
                  <a:lnTo>
                    <a:pt x="9753600" y="74841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B8B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737360" y="4352544"/>
            <a:ext cx="7315200" cy="548640"/>
            <a:chOff x="0" y="0"/>
            <a:chExt cx="97536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B832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Tables DynamoDB vides au départ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14183" y="4339847"/>
            <a:ext cx="8255003" cy="574043"/>
            <a:chOff x="0" y="0"/>
            <a:chExt cx="11006671" cy="7653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006582" cy="765304"/>
            </a:xfrm>
            <a:custGeom>
              <a:avLst/>
              <a:gdLst/>
              <a:ahLst/>
              <a:cxnLst/>
              <a:rect r="r" b="b" t="t" l="l"/>
              <a:pathLst>
                <a:path h="76530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48411"/>
                  </a:lnTo>
                  <a:cubicBezTo>
                    <a:pt x="11006582" y="757809"/>
                    <a:pt x="10998962" y="765302"/>
                    <a:pt x="109896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0989691" y="731520"/>
                  </a:lnTo>
                  <a:lnTo>
                    <a:pt x="10989691" y="748411"/>
                  </a:lnTo>
                  <a:lnTo>
                    <a:pt x="10972800" y="7484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326880" y="4352544"/>
            <a:ext cx="8229600" cy="548640"/>
            <a:chOff x="0" y="0"/>
            <a:chExt cx="109728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Lancer les 3 Lambdas dans le bon ordre : Collecte → Traitement → Dashboard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321040" y="4700016"/>
            <a:ext cx="914400" cy="548640"/>
            <a:chOff x="0" y="0"/>
            <a:chExt cx="12192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219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37360" y="5084064"/>
            <a:ext cx="15819120" cy="512064"/>
            <a:chOff x="0" y="0"/>
            <a:chExt cx="2109216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092161" cy="682752"/>
            </a:xfrm>
            <a:custGeom>
              <a:avLst/>
              <a:gdLst/>
              <a:ahLst/>
              <a:cxnLst/>
              <a:rect r="r" b="b" t="t" l="l"/>
              <a:pathLst>
                <a:path h="682752" w="21092161">
                  <a:moveTo>
                    <a:pt x="0" y="0"/>
                  </a:moveTo>
                  <a:lnTo>
                    <a:pt x="21092161" y="0"/>
                  </a:lnTo>
                  <a:lnTo>
                    <a:pt x="210921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1948" r="0" b="-55194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1092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Ce qu'on a appris : gérer les permissions AWS, l'ordre d'exécution des services et les délais d'activation des APIs.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35943" y="6022343"/>
            <a:ext cx="17216123" cy="1579883"/>
            <a:chOff x="0" y="0"/>
            <a:chExt cx="22954831" cy="21065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2920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954743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2089531"/>
                  </a:lnTo>
                  <a:cubicBezTo>
                    <a:pt x="22954743" y="2098929"/>
                    <a:pt x="22947123" y="2106422"/>
                    <a:pt x="2293785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2937851" y="2072640"/>
                  </a:lnTo>
                  <a:lnTo>
                    <a:pt x="22937851" y="2089531"/>
                  </a:lnTo>
                  <a:lnTo>
                    <a:pt x="22920961" y="208953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48640" y="6035040"/>
            <a:ext cx="1188720" cy="1554480"/>
            <a:chOff x="0" y="0"/>
            <a:chExt cx="1584960" cy="2072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84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7781" t="0" r="-11778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158496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🔑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24663" y="6168647"/>
            <a:ext cx="7340603" cy="574043"/>
            <a:chOff x="0" y="0"/>
            <a:chExt cx="9787471" cy="76539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DEAEA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787382" cy="765304"/>
            </a:xfrm>
            <a:custGeom>
              <a:avLst/>
              <a:gdLst/>
              <a:ahLst/>
              <a:cxnLst/>
              <a:rect r="r" b="b" t="t" l="l"/>
              <a:pathLst>
                <a:path h="765304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748411"/>
                  </a:lnTo>
                  <a:cubicBezTo>
                    <a:pt x="9787382" y="757809"/>
                    <a:pt x="9779762" y="765302"/>
                    <a:pt x="97704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9770491" y="731520"/>
                  </a:lnTo>
                  <a:lnTo>
                    <a:pt x="9770491" y="748411"/>
                  </a:lnTo>
                  <a:lnTo>
                    <a:pt x="9753600" y="74841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B8B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737360" y="6181344"/>
            <a:ext cx="7315200" cy="548640"/>
            <a:chOff x="0" y="0"/>
            <a:chExt cx="975360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B832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Clé API inactive (erreur 401)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314183" y="6168647"/>
            <a:ext cx="8255003" cy="574043"/>
            <a:chOff x="0" y="0"/>
            <a:chExt cx="11006671" cy="76539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006582" cy="765304"/>
            </a:xfrm>
            <a:custGeom>
              <a:avLst/>
              <a:gdLst/>
              <a:ahLst/>
              <a:cxnLst/>
              <a:rect r="r" b="b" t="t" l="l"/>
              <a:pathLst>
                <a:path h="76530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48411"/>
                  </a:lnTo>
                  <a:cubicBezTo>
                    <a:pt x="11006582" y="757809"/>
                    <a:pt x="10998962" y="765302"/>
                    <a:pt x="109896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0989691" y="731520"/>
                  </a:lnTo>
                  <a:lnTo>
                    <a:pt x="10989691" y="748411"/>
                  </a:lnTo>
                  <a:lnTo>
                    <a:pt x="10972800" y="7484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326880" y="6181344"/>
            <a:ext cx="8229600" cy="548640"/>
            <a:chOff x="0" y="0"/>
            <a:chExt cx="1097280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OpenWeatherMap nécessite 2h d'activation après inscription — patienter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321040" y="6528816"/>
            <a:ext cx="914400" cy="548640"/>
            <a:chOff x="0" y="0"/>
            <a:chExt cx="121920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1219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737360" y="6912864"/>
            <a:ext cx="15819120" cy="512064"/>
            <a:chOff x="0" y="0"/>
            <a:chExt cx="21092160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092161" cy="682752"/>
            </a:xfrm>
            <a:custGeom>
              <a:avLst/>
              <a:gdLst/>
              <a:ahLst/>
              <a:cxnLst/>
              <a:rect r="r" b="b" t="t" l="l"/>
              <a:pathLst>
                <a:path h="682752" w="21092161">
                  <a:moveTo>
                    <a:pt x="0" y="0"/>
                  </a:moveTo>
                  <a:lnTo>
                    <a:pt x="21092161" y="0"/>
                  </a:lnTo>
                  <a:lnTo>
                    <a:pt x="210921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1948" r="0" b="-55194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1092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Ce qu'on a appris : gérer les permissions AWS, l'ordre d'exécution des services et les délais d'activation des APIs.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35943" y="7851143"/>
            <a:ext cx="17216123" cy="1579883"/>
            <a:chOff x="0" y="0"/>
            <a:chExt cx="22954831" cy="210651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22920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954743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2089531"/>
                  </a:lnTo>
                  <a:cubicBezTo>
                    <a:pt x="22954743" y="2098929"/>
                    <a:pt x="22947123" y="2106422"/>
                    <a:pt x="2293785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2937851" y="2072640"/>
                  </a:lnTo>
                  <a:lnTo>
                    <a:pt x="22937851" y="2089531"/>
                  </a:lnTo>
                  <a:lnTo>
                    <a:pt x="22920961" y="208953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DDD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548640" y="7863840"/>
            <a:ext cx="1188720" cy="1554480"/>
            <a:chOff x="0" y="0"/>
            <a:chExt cx="1584960" cy="2072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584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7781" t="0" r="-11778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76200"/>
              <a:ext cx="158496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724663" y="7997447"/>
            <a:ext cx="7340603" cy="574043"/>
            <a:chOff x="0" y="0"/>
            <a:chExt cx="9787471" cy="76539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DEAEA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787382" cy="765304"/>
            </a:xfrm>
            <a:custGeom>
              <a:avLst/>
              <a:gdLst/>
              <a:ahLst/>
              <a:cxnLst/>
              <a:rect r="r" b="b" t="t" l="l"/>
              <a:pathLst>
                <a:path h="765304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748411"/>
                  </a:lnTo>
                  <a:cubicBezTo>
                    <a:pt x="9787382" y="757809"/>
                    <a:pt x="9779762" y="765302"/>
                    <a:pt x="97704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9770491" y="731520"/>
                  </a:lnTo>
                  <a:lnTo>
                    <a:pt x="9770491" y="748411"/>
                  </a:lnTo>
                  <a:lnTo>
                    <a:pt x="9753600" y="74841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0B8B8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737360" y="8010144"/>
            <a:ext cx="7315200" cy="548640"/>
            <a:chOff x="0" y="0"/>
            <a:chExt cx="975360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B832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Chaînage automatique des Lambdas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314183" y="7997447"/>
            <a:ext cx="8255003" cy="574043"/>
            <a:chOff x="0" y="0"/>
            <a:chExt cx="11006671" cy="76539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8F4EC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006582" cy="765304"/>
            </a:xfrm>
            <a:custGeom>
              <a:avLst/>
              <a:gdLst/>
              <a:ahLst/>
              <a:cxnLst/>
              <a:rect r="r" b="b" t="t" l="l"/>
              <a:pathLst>
                <a:path h="76530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48411"/>
                  </a:lnTo>
                  <a:cubicBezTo>
                    <a:pt x="11006582" y="757809"/>
                    <a:pt x="10998962" y="765302"/>
                    <a:pt x="109896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0989691" y="731520"/>
                  </a:lnTo>
                  <a:lnTo>
                    <a:pt x="10989691" y="748411"/>
                  </a:lnTo>
                  <a:lnTo>
                    <a:pt x="10972800" y="7484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2D9C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326880" y="8010144"/>
            <a:ext cx="8229600" cy="548640"/>
            <a:chOff x="0" y="0"/>
            <a:chExt cx="10972800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Utiliser boto3.client('lambda').invoke() depuis Lambda-Collecte pour déclencher les suivantes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321040" y="8357616"/>
            <a:ext cx="914400" cy="548640"/>
            <a:chOff x="0" y="0"/>
            <a:chExt cx="1219200" cy="7315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12192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2A7A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737360" y="8741664"/>
            <a:ext cx="15819120" cy="512064"/>
            <a:chOff x="0" y="0"/>
            <a:chExt cx="21092160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1092161" cy="682752"/>
            </a:xfrm>
            <a:custGeom>
              <a:avLst/>
              <a:gdLst/>
              <a:ahLst/>
              <a:cxnLst/>
              <a:rect r="r" b="b" t="t" l="l"/>
              <a:pathLst>
                <a:path h="682752" w="21092161">
                  <a:moveTo>
                    <a:pt x="0" y="0"/>
                  </a:moveTo>
                  <a:lnTo>
                    <a:pt x="21092161" y="0"/>
                  </a:lnTo>
                  <a:lnTo>
                    <a:pt x="210921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1948" r="0" b="-551948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10921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Ce qu'on a appris : gérer les permissions AWS, l'ordre d'exécution des services et les délais d'activation des APIs.</a:t>
              </a:r>
            </a:p>
          </p:txBody>
        </p:sp>
      </p:grpSp>
    </p:spTree>
  </p:cSld>
  <p:clrMapOvr>
    <a:masterClrMapping/>
  </p:clrMapOvr>
  <p:transition spd="slow">
    <p:cover dir="u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55897" y="-18414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2A7A4B">
                <a:alpha val="3922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909" cy="12225782"/>
            </a:xfrm>
            <a:custGeom>
              <a:avLst/>
              <a:gdLst/>
              <a:ahLst/>
              <a:cxnLst/>
              <a:rect r="r" b="b" t="t" l="l"/>
              <a:pathLst>
                <a:path h="12225782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1C3A2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03303" y="4559303"/>
            <a:ext cx="7340603" cy="7340603"/>
            <a:chOff x="0" y="0"/>
            <a:chExt cx="9787471" cy="9787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3D9B61">
                <a:alpha val="196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1C3A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548640"/>
            <a:ext cx="16459200" cy="1463040"/>
            <a:chOff x="0" y="0"/>
            <a:chExt cx="21945600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 projet en chiffres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50343" y="2364743"/>
            <a:ext cx="4597403" cy="3134363"/>
            <a:chOff x="0" y="0"/>
            <a:chExt cx="6129871" cy="4179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60960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2A7A4B">
                <a:alpha val="15686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97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4162171"/>
                  </a:lnTo>
                  <a:cubicBezTo>
                    <a:pt x="6129782" y="4171569"/>
                    <a:pt x="6122162" y="4179062"/>
                    <a:pt x="61128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6112891" y="4145280"/>
                  </a:lnTo>
                  <a:lnTo>
                    <a:pt x="6112891" y="4162171"/>
                  </a:lnTo>
                  <a:lnTo>
                    <a:pt x="6096000" y="4162171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9B6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63040" y="2560320"/>
            <a:ext cx="4572000" cy="1645920"/>
            <a:chOff x="0" y="0"/>
            <a:chExt cx="609600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0960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3D9B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" y="4206240"/>
            <a:ext cx="4572000" cy="1097280"/>
            <a:chOff x="0" y="0"/>
            <a:chExt cx="609600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0960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Wilayas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surveillées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53863" y="2364743"/>
            <a:ext cx="4597403" cy="3134363"/>
            <a:chOff x="0" y="0"/>
            <a:chExt cx="6129871" cy="41791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60960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2A7A4B">
                <a:alpha val="15686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297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4162171"/>
                  </a:lnTo>
                  <a:cubicBezTo>
                    <a:pt x="6129782" y="4171569"/>
                    <a:pt x="6122162" y="4179062"/>
                    <a:pt x="61128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6112891" y="4145280"/>
                  </a:lnTo>
                  <a:lnTo>
                    <a:pt x="6112891" y="4162171"/>
                  </a:lnTo>
                  <a:lnTo>
                    <a:pt x="6096000" y="4162171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9B6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66560" y="2560320"/>
            <a:ext cx="4572000" cy="1645920"/>
            <a:chOff x="0" y="0"/>
            <a:chExt cx="6096000" cy="21945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60960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A8D8B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766560" y="4206240"/>
            <a:ext cx="4572000" cy="1097280"/>
            <a:chOff x="0" y="0"/>
            <a:chExt cx="609600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0960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Fonctions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Lambda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057383" y="2364743"/>
            <a:ext cx="4597403" cy="3134363"/>
            <a:chOff x="0" y="0"/>
            <a:chExt cx="6129871" cy="41791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60960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2A7A4B">
                <a:alpha val="15686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297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4162171"/>
                  </a:lnTo>
                  <a:cubicBezTo>
                    <a:pt x="6129782" y="4171569"/>
                    <a:pt x="6122162" y="4179062"/>
                    <a:pt x="61128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6112891" y="4145280"/>
                  </a:lnTo>
                  <a:lnTo>
                    <a:pt x="6112891" y="4162171"/>
                  </a:lnTo>
                  <a:lnTo>
                    <a:pt x="6096000" y="4162171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9B6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070080" y="2560320"/>
            <a:ext cx="4572000" cy="1645920"/>
            <a:chOff x="0" y="0"/>
            <a:chExt cx="6096000" cy="21945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0960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3D9B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070080" y="4206240"/>
            <a:ext cx="4572000" cy="1097280"/>
            <a:chOff x="0" y="0"/>
            <a:chExt cx="609600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96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0960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Tables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DynamoDB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50343" y="6022343"/>
            <a:ext cx="4597403" cy="3134363"/>
            <a:chOff x="0" y="0"/>
            <a:chExt cx="6129871" cy="41791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60960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2A7A4B">
                <a:alpha val="15686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297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4162171"/>
                  </a:lnTo>
                  <a:cubicBezTo>
                    <a:pt x="6129782" y="4171569"/>
                    <a:pt x="6122162" y="4179062"/>
                    <a:pt x="61128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6112891" y="4145280"/>
                  </a:lnTo>
                  <a:lnTo>
                    <a:pt x="6112891" y="4162171"/>
                  </a:lnTo>
                  <a:lnTo>
                    <a:pt x="6096000" y="4162171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9B6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63040" y="6217920"/>
            <a:ext cx="4572000" cy="1645920"/>
            <a:chOff x="0" y="0"/>
            <a:chExt cx="6096000" cy="2194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60960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A8D8B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63040" y="7863840"/>
            <a:ext cx="4572000" cy="1097280"/>
            <a:chOff x="0" y="0"/>
            <a:chExt cx="6096000" cy="1463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0960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Alarmes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CloudWatch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753863" y="6022343"/>
            <a:ext cx="4597403" cy="3134363"/>
            <a:chOff x="0" y="0"/>
            <a:chExt cx="6129871" cy="41791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60960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2A7A4B">
                <a:alpha val="15686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1297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4162171"/>
                  </a:lnTo>
                  <a:cubicBezTo>
                    <a:pt x="6129782" y="4171569"/>
                    <a:pt x="6122162" y="4179062"/>
                    <a:pt x="61128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6112891" y="4145280"/>
                  </a:lnTo>
                  <a:lnTo>
                    <a:pt x="6112891" y="4162171"/>
                  </a:lnTo>
                  <a:lnTo>
                    <a:pt x="6096000" y="4162171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9B6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766560" y="6217920"/>
            <a:ext cx="4572000" cy="1645920"/>
            <a:chOff x="0" y="0"/>
            <a:chExt cx="6096000" cy="21945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60960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3D9B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0.33$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766560" y="7863840"/>
            <a:ext cx="4572000" cy="1097280"/>
            <a:chOff x="0" y="0"/>
            <a:chExt cx="6096000" cy="1463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096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0960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Coût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mensuel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057383" y="6022343"/>
            <a:ext cx="4597403" cy="3134363"/>
            <a:chOff x="0" y="0"/>
            <a:chExt cx="6129871" cy="41791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6096000" cy="4145280"/>
            </a:xfrm>
            <a:custGeom>
              <a:avLst/>
              <a:gdLst/>
              <a:ahLst/>
              <a:cxnLst/>
              <a:rect r="r" b="b" t="t" l="l"/>
              <a:pathLst>
                <a:path h="4145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2A7A4B">
                <a:alpha val="15686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29782" cy="4179062"/>
            </a:xfrm>
            <a:custGeom>
              <a:avLst/>
              <a:gdLst/>
              <a:ahLst/>
              <a:cxnLst/>
              <a:rect r="r" b="b" t="t" l="l"/>
              <a:pathLst>
                <a:path h="4179062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4162171"/>
                  </a:lnTo>
                  <a:cubicBezTo>
                    <a:pt x="6129782" y="4171569"/>
                    <a:pt x="6122162" y="4179062"/>
                    <a:pt x="611289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6112891" y="4145280"/>
                  </a:lnTo>
                  <a:lnTo>
                    <a:pt x="6112891" y="4162171"/>
                  </a:lnTo>
                  <a:lnTo>
                    <a:pt x="6096000" y="4162171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9B61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070080" y="6217920"/>
            <a:ext cx="4572000" cy="1645920"/>
            <a:chOff x="0" y="0"/>
            <a:chExt cx="6096000" cy="21945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60960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A8D8B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070080" y="7863840"/>
            <a:ext cx="4572000" cy="1097280"/>
            <a:chOff x="0" y="0"/>
            <a:chExt cx="6096000" cy="14630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096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0960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Intervention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humaine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99723" cy="10312403"/>
            <a:chOff x="0" y="0"/>
            <a:chExt cx="39963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36576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3D9B6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954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99542">
                  <a:moveTo>
                    <a:pt x="16891" y="0"/>
                  </a:moveTo>
                  <a:lnTo>
                    <a:pt x="382651" y="0"/>
                  </a:lnTo>
                  <a:cubicBezTo>
                    <a:pt x="392049" y="0"/>
                    <a:pt x="399542" y="7620"/>
                    <a:pt x="399542" y="16891"/>
                  </a:cubicBezTo>
                  <a:lnTo>
                    <a:pt x="399542" y="13732890"/>
                  </a:lnTo>
                  <a:cubicBezTo>
                    <a:pt x="399542" y="13742290"/>
                    <a:pt x="391922" y="13749782"/>
                    <a:pt x="38265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82651" y="13716000"/>
                  </a:lnTo>
                  <a:lnTo>
                    <a:pt x="382651" y="13732890"/>
                  </a:lnTo>
                  <a:lnTo>
                    <a:pt x="365760" y="13732890"/>
                  </a:lnTo>
                  <a:lnTo>
                    <a:pt x="365760" y="16891"/>
                  </a:lnTo>
                  <a:lnTo>
                    <a:pt x="382651" y="16891"/>
                  </a:lnTo>
                  <a:lnTo>
                    <a:pt x="382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3A2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788903" y="-1841497"/>
            <a:ext cx="7340603" cy="7340603"/>
            <a:chOff x="0" y="0"/>
            <a:chExt cx="9787471" cy="9787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2A7A4B">
                <a:alpha val="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1C3A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914400"/>
            <a:ext cx="15544800" cy="1828800"/>
            <a:chOff x="0" y="0"/>
            <a:chExt cx="2072640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7264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Merci de votre attention !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3108960"/>
            <a:ext cx="11887200" cy="4572000"/>
            <a:chOff x="0" y="0"/>
            <a:chExt cx="15849600" cy="609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8496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5849600" cy="6143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Infrastructure 100% serverless et automatisée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8 wilayas surveillées en continu, 24h/24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Coût mensuel de seulement 0.33$/mois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Données exportables CSV pour FAO, PAM, OXFAM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8D8B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Dashboard accessible worldwide via CloudFront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1703" y="7668263"/>
            <a:ext cx="11912603" cy="1854203"/>
            <a:chOff x="0" y="0"/>
            <a:chExt cx="15883471" cy="24722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58495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15849599">
                  <a:moveTo>
                    <a:pt x="0" y="0"/>
                  </a:moveTo>
                  <a:lnTo>
                    <a:pt x="15849599" y="0"/>
                  </a:lnTo>
                  <a:lnTo>
                    <a:pt x="158495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A7A4B">
                <a:alpha val="1568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8833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15883382">
                  <a:moveTo>
                    <a:pt x="16891" y="0"/>
                  </a:moveTo>
                  <a:lnTo>
                    <a:pt x="15866490" y="0"/>
                  </a:lnTo>
                  <a:cubicBezTo>
                    <a:pt x="15875890" y="0"/>
                    <a:pt x="15883382" y="7620"/>
                    <a:pt x="15883382" y="16891"/>
                  </a:cubicBezTo>
                  <a:lnTo>
                    <a:pt x="15883382" y="2455291"/>
                  </a:lnTo>
                  <a:cubicBezTo>
                    <a:pt x="15883382" y="2464689"/>
                    <a:pt x="15875763" y="2472182"/>
                    <a:pt x="158664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5866490" y="2438400"/>
                  </a:lnTo>
                  <a:lnTo>
                    <a:pt x="15866490" y="2455291"/>
                  </a:lnTo>
                  <a:lnTo>
                    <a:pt x="15849600" y="2455291"/>
                  </a:lnTo>
                  <a:lnTo>
                    <a:pt x="15849600" y="16891"/>
                  </a:lnTo>
                  <a:lnTo>
                    <a:pt x="15866490" y="16891"/>
                  </a:lnTo>
                  <a:lnTo>
                    <a:pt x="15866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D9B6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0" y="7680960"/>
            <a:ext cx="11521440" cy="1828800"/>
            <a:chOff x="0" y="0"/>
            <a:chExt cx="15361920" cy="2438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3619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36192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🔗 GitHub : https://github.com/SKSG11/meteo-senegal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🌐 Dashboard : https://d2wxglhwu2o8ft.cloudfront.net/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9B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ISI Dakar · AWS Academy Cloud Foundations 2025-2026 · M. LAM Sabarane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264640" y="3291840"/>
            <a:ext cx="3657600" cy="3657600"/>
            <a:chOff x="0" y="0"/>
            <a:chExt cx="4876800" cy="4876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76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33375"/>
              <a:ext cx="4876800" cy="521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0"/>
                </a:lnSpc>
              </a:pPr>
              <a:r>
                <a:rPr lang="en-US" sz="16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🌱</a:t>
              </a:r>
            </a:p>
          </p:txBody>
        </p:sp>
      </p:grpSp>
    </p:spTree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DAHFbV2V4Fs</dc:identifier>
  <dcterms:modified xsi:type="dcterms:W3CDTF">2011-08-01T06:04:30Z</dcterms:modified>
  <cp:revision>1</cp:revision>
  <dc:title>&amp; [Prénom</dc:title>
</cp:coreProperties>
</file>